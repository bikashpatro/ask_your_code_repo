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1E387AA-8086-40A1-B83A-F5B942D02C4B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59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A3431D98-3A80-456B-830A-7D9B7867B80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2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431B39AF-1DEE-4CCF-9993-E9699A3B01FD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5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DACA9F8-6018-4630-B139-2877F4B35F7B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68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AF872A7C-D97D-4FD4-8E6E-F7C8AA031CEE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1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9B8746A-C589-46EB-924E-BAE7AC36A791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774A1E31-5E24-4E64-AD65-042B7C793F44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7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8E016AA1-FC06-4679-B259-FEBB0591B8B3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80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116768B-2C21-4773-B811-1B18E4507E0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383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4EE936FB-9436-4997-AE59-9A2A6DF8F150}" type="slidenum">
              <a:rPr lang="en-US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sk-your-code-repo-qmn1t2z5s-bikashpatros-projects.vercel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CustomShape 2"/>
          <p:cNvSpPr/>
          <p:nvPr/>
        </p:nvSpPr>
        <p:spPr>
          <a:xfrm>
            <a:off x="0" y="5047560"/>
            <a:ext cx="9143280" cy="9072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6" name="Image 0" descr="preencoded.png"/>
          <p:cNvPicPr/>
          <p:nvPr/>
        </p:nvPicPr>
        <p:blipFill>
          <a:blip r:embed="rId3"/>
          <a:stretch/>
        </p:blipFill>
        <p:spPr>
          <a:xfrm>
            <a:off x="4114800" y="228240"/>
            <a:ext cx="914040" cy="914040"/>
          </a:xfrm>
          <a:prstGeom prst="rect">
            <a:avLst/>
          </a:prstGeom>
          <a:ln>
            <a:noFill/>
          </a:ln>
        </p:spPr>
      </p:pic>
      <p:sp>
        <p:nvSpPr>
          <p:cNvPr id="47" name="CustomShape 3"/>
          <p:cNvSpPr/>
          <p:nvPr/>
        </p:nvSpPr>
        <p:spPr>
          <a:xfrm>
            <a:off x="4023360" y="1188720"/>
            <a:ext cx="1919880" cy="27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Arial"/>
                <a:ea typeface="Arial"/>
              </a:rPr>
              <a:t>IIT PATNA</a:t>
            </a:r>
            <a:endParaRPr lang="en-US" sz="1700" b="0" strike="noStrike" spc="-1">
              <a:latin typeface="Arial"/>
            </a:endParaRPr>
          </a:p>
        </p:txBody>
      </p:sp>
      <p:sp>
        <p:nvSpPr>
          <p:cNvPr id="48" name="CustomShape 4"/>
          <p:cNvSpPr/>
          <p:nvPr/>
        </p:nvSpPr>
        <p:spPr>
          <a:xfrm>
            <a:off x="3657600" y="1371600"/>
            <a:ext cx="2011320" cy="4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A78BFA"/>
                </a:solidFill>
                <a:latin typeface="Calibri"/>
                <a:ea typeface="Calibri"/>
              </a:rPr>
              <a:t>Capstone Project </a:t>
            </a:r>
            <a:endParaRPr lang="en-US" sz="1500" b="0" strike="noStrike" spc="-1">
              <a:latin typeface="Arial"/>
            </a:endParaRPr>
          </a:p>
        </p:txBody>
      </p:sp>
      <p:sp>
        <p:nvSpPr>
          <p:cNvPr id="49" name="CustomShape 5"/>
          <p:cNvSpPr/>
          <p:nvPr/>
        </p:nvSpPr>
        <p:spPr>
          <a:xfrm>
            <a:off x="365760" y="1572840"/>
            <a:ext cx="8411760" cy="1005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6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RepoBrain</a:t>
            </a:r>
            <a:r>
              <a:rPr lang="en-US" sz="5600" b="1" strike="noStrike" spc="-1">
                <a:solidFill>
                  <a:srgbClr val="A78BFA"/>
                </a:solidFill>
                <a:latin typeface="Arial Black"/>
                <a:ea typeface="Arial Black"/>
              </a:rPr>
              <a:t>AI</a:t>
            </a:r>
            <a:endParaRPr lang="en-US" sz="5600" b="0" strike="noStrike" spc="-1">
              <a:latin typeface="Arial"/>
            </a:endParaRPr>
          </a:p>
        </p:txBody>
      </p:sp>
      <p:sp>
        <p:nvSpPr>
          <p:cNvPr id="50" name="CustomShape 6"/>
          <p:cNvSpPr/>
          <p:nvPr/>
        </p:nvSpPr>
        <p:spPr>
          <a:xfrm>
            <a:off x="27432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" name="CustomShape 7"/>
          <p:cNvSpPr/>
          <p:nvPr/>
        </p:nvSpPr>
        <p:spPr>
          <a:xfrm>
            <a:off x="27432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RAG Pipeline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2" name="CustomShape 8"/>
          <p:cNvSpPr/>
          <p:nvPr/>
        </p:nvSpPr>
        <p:spPr>
          <a:xfrm>
            <a:off x="199332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" name="CustomShape 9"/>
          <p:cNvSpPr/>
          <p:nvPr/>
        </p:nvSpPr>
        <p:spPr>
          <a:xfrm>
            <a:off x="199332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Local Embedding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4" name="CustomShape 10"/>
          <p:cNvSpPr/>
          <p:nvPr/>
        </p:nvSpPr>
        <p:spPr>
          <a:xfrm>
            <a:off x="371232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" name="CustomShape 11"/>
          <p:cNvSpPr/>
          <p:nvPr/>
        </p:nvSpPr>
        <p:spPr>
          <a:xfrm>
            <a:off x="371232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Groq LLaMA 3.3-70B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6" name="CustomShape 12"/>
          <p:cNvSpPr/>
          <p:nvPr/>
        </p:nvSpPr>
        <p:spPr>
          <a:xfrm>
            <a:off x="543168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" name="CustomShape 13"/>
          <p:cNvSpPr/>
          <p:nvPr/>
        </p:nvSpPr>
        <p:spPr>
          <a:xfrm>
            <a:off x="543168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Mermaid Diagrams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58" name="CustomShape 14"/>
          <p:cNvSpPr/>
          <p:nvPr/>
        </p:nvSpPr>
        <p:spPr>
          <a:xfrm>
            <a:off x="7150680" y="2853000"/>
            <a:ext cx="1572120" cy="346680"/>
          </a:xfrm>
          <a:prstGeom prst="roundRect">
            <a:avLst>
              <a:gd name="adj" fmla="val 21053"/>
            </a:avLst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" name="CustomShape 15"/>
          <p:cNvSpPr/>
          <p:nvPr/>
        </p:nvSpPr>
        <p:spPr>
          <a:xfrm>
            <a:off x="7150680" y="2853000"/>
            <a:ext cx="15721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A78BFA"/>
                </a:solidFill>
                <a:latin typeface="Calibri"/>
                <a:ea typeface="DejaVu Sans"/>
              </a:rPr>
              <a:t>Vercel Deployed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60" name="CustomShape 16"/>
          <p:cNvSpPr/>
          <p:nvPr/>
        </p:nvSpPr>
        <p:spPr>
          <a:xfrm>
            <a:off x="914400" y="3401640"/>
            <a:ext cx="7314480" cy="31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7A7A9A"/>
                </a:solidFill>
                <a:latin typeface="Calibri"/>
                <a:ea typeface="Calibri"/>
              </a:rPr>
              <a:t>IIT Patna  |  Generative AI  6-Month Program  |  2025-2026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61" name="CustomShape 17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                         </a:t>
            </a:r>
          </a:p>
        </p:txBody>
      </p:sp>
      <p:sp>
        <p:nvSpPr>
          <p:cNvPr id="62" name="CustomShape 18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Capstone Project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63" name="TextShape 19"/>
          <p:cNvSpPr txBox="1"/>
          <p:nvPr/>
        </p:nvSpPr>
        <p:spPr>
          <a:xfrm>
            <a:off x="3200400" y="38404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400" b="1" strike="noStrike" spc="-1" dirty="0">
                <a:solidFill>
                  <a:srgbClr val="395511"/>
                </a:solidFill>
                <a:latin typeface="Calibri"/>
                <a:ea typeface="Calibri"/>
              </a:rPr>
              <a:t>Group 6</a:t>
            </a:r>
            <a:r>
              <a:rPr lang="en-US" sz="1050" b="1" strike="noStrike" spc="-1" dirty="0">
                <a:solidFill>
                  <a:srgbClr val="224B12"/>
                </a:solidFill>
                <a:latin typeface="Calibri"/>
                <a:ea typeface="Calibri"/>
              </a:rPr>
              <a:t>  </a:t>
            </a:r>
            <a:r>
              <a:rPr lang="en-US" sz="1050" b="0" strike="noStrike" spc="-1" dirty="0">
                <a:solidFill>
                  <a:srgbClr val="729FCF"/>
                </a:solidFill>
                <a:latin typeface="Calibri"/>
                <a:ea typeface="Calibri"/>
              </a:rPr>
              <a:t>  </a:t>
            </a:r>
            <a:r>
              <a:rPr lang="en-US" sz="1050" b="0" strike="noStrike" spc="-1">
                <a:solidFill>
                  <a:srgbClr val="729FCF"/>
                </a:solidFill>
                <a:latin typeface="Calibri"/>
                <a:ea typeface="Calibri"/>
              </a:rPr>
              <a:t>|  </a:t>
            </a:r>
            <a:r>
              <a:rPr lang="en-US" sz="1050" b="1" strike="noStrike" spc="-1">
                <a:solidFill>
                  <a:srgbClr val="395511"/>
                </a:solidFill>
                <a:latin typeface="Calibri"/>
                <a:ea typeface="Calibri"/>
              </a:rPr>
              <a:t> </a:t>
            </a:r>
            <a:r>
              <a:rPr lang="en-US" sz="1050" b="1" spc="-1">
                <a:solidFill>
                  <a:srgbClr val="395511"/>
                </a:solidFill>
                <a:latin typeface="Calibri"/>
                <a:ea typeface="Calibri"/>
              </a:rPr>
              <a:t>ANARASI BIKASH PATRO</a:t>
            </a:r>
            <a:endParaRPr lang="en-US" sz="1050" b="0" strike="noStrike" spc="-1">
              <a:solidFill>
                <a:srgbClr val="729FCF"/>
              </a:solidFill>
              <a:latin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6" dur="550" fill="hold"/>
                                  <p:tgtEl>
                                    <p:spTgt spid="4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10" presetClass="entr" fill="hold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9" dur="550" fill="hold"/>
                                  <p:tgtEl>
                                    <p:spTgt spid="4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" presetID="17" presetClass="entr" presetSubtype="4" fill="hold">
                            <p:stCondLst>
                              <p:cond delay="180"/>
                            </p:stCondLst>
                            <p:childTnLst>
                              <p:set>
                                <p:cBhvr>
                                  <p:cTn id="11" dur="1" fill="hold"/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2" dur="600" fill="hold"/>
                                  <p:tgtEl>
                                    <p:spTgt spid="49"/>
                                  </p:tgtEl>
                                  <p:attrNameLst>
                                    <p:attrName>style.fontSize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.5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3" dur="600" fill="hold"/>
                                  <p:tgtEl>
                                    <p:spTgt spid="4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" presetID="10" presetClass="entr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16" dur="550" fill="hold"/>
                                  <p:tgtEl>
                                    <p:spTgt spid="5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7" presetID="10" presetClass="entr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18" dur="1" fill="hold"/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19" dur="550" fill="hold"/>
                                  <p:tgtEl>
                                    <p:spTgt spid="5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0" presetID="10" presetClass="entr" fill="hold">
                            <p:stCondLst>
                              <p:cond delay="530"/>
                            </p:stCondLst>
                            <p:childTnLst>
                              <p:set>
                                <p:cBhvr>
                                  <p:cTn id="21" dur="1" fill="hold"/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22" dur="550" fill="hold"/>
                                  <p:tgtEl>
                                    <p:spTgt spid="5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3" presetID="10" presetClass="entr" fill="hold">
                            <p:stCondLst>
                              <p:cond delay="530"/>
                            </p:stCondLst>
                            <p:childTnLst>
                              <p:set>
                                <p:cBhvr>
                                  <p:cTn id="24" dur="1" fill="hold"/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25" dur="550" fill="hold"/>
                                  <p:tgtEl>
                                    <p:spTgt spid="5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6" presetID="10" presetClass="entr" fill="hold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27" dur="1" fill="hold"/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28" dur="550" fill="hold"/>
                                  <p:tgtEl>
                                    <p:spTgt spid="5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9" presetID="10" presetClass="entr" fill="hold">
                            <p:stCondLst>
                              <p:cond delay="640"/>
                            </p:stCondLst>
                            <p:childTnLst>
                              <p:set>
                                <p:cBhvr>
                                  <p:cTn id="30" dur="1" fill="hold"/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31" dur="550" fill="hold"/>
                                  <p:tgtEl>
                                    <p:spTgt spid="5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2" presetID="10" presetClass="entr" fill="hold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33" dur="1" fill="hold"/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34" dur="550" fill="hold"/>
                                  <p:tgtEl>
                                    <p:spTgt spid="5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10" presetClass="entr" fill="hold">
                            <p:stCondLst>
                              <p:cond delay="750"/>
                            </p:stCondLst>
                            <p:childTnLst>
                              <p:set>
                                <p:cBhvr>
                                  <p:cTn id="36" dur="1" fill="hold"/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37" dur="550" fill="hold"/>
                                  <p:tgtEl>
                                    <p:spTgt spid="5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8" presetID="10" presetClass="entr" fill="hold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39" dur="1" fill="hold"/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40" dur="550" fill="hold"/>
                                  <p:tgtEl>
                                    <p:spTgt spid="5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1" presetID="10" presetClass="entr" fill="hold">
                            <p:stCondLst>
                              <p:cond delay="860"/>
                            </p:stCondLst>
                            <p:childTnLst>
                              <p:set>
                                <p:cBhvr>
                                  <p:cTn id="42" dur="1" fill="hold"/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43" dur="550" fill="hold"/>
                                  <p:tgtEl>
                                    <p:spTgt spid="5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4" presetID="10" presetClass="entr" fill="hold">
                            <p:stCondLst>
                              <p:cond delay="1000"/>
                            </p:stCondLst>
                            <p:childTnLst>
                              <p:set>
                                <p:cBhvr>
                                  <p:cTn id="45" dur="1" fill="hold"/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46" dur="550" fill="hold"/>
                                  <p:tgtEl>
                                    <p:spTgt spid="6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47" fill="hold">
                <p:stCondLst>
                  <p:cond evt="onClick" delay="0">
                    <p:tgtEl>
                      <p:spTgt spid="51"/>
                    </p:tgtEl>
                  </p:cond>
                </p:stCondLst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49" dur="350" fill="hold"/>
                            <p:tgtEl>
                              <p:spTgt spid="50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50" dur="350" fill="hold"/>
                            <p:tgtEl>
                              <p:spTgt spid="50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7C3AED"/>
                          </p:to>
                        </p:animClr>
                        <p:animScale>
                          <p:cBhvr>
                            <p:cTn id="51" dur="350" fill="hold"/>
                            <p:tgtEl>
                              <p:spTgt spid="51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  <p:par>
              <p:cTn id="52" fill="hold">
                <p:stCondLst>
                  <p:cond evt="onClick" delay="0">
                    <p:tgtEl>
                      <p:spTgt spid="53"/>
                    </p:tgtEl>
                  </p:cond>
                </p:stCondLst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4" dur="350" fill="hold"/>
                            <p:tgtEl>
                              <p:spTgt spid="52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55" dur="350" fill="hold"/>
                            <p:tgtEl>
                              <p:spTgt spid="52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059669"/>
                          </p:to>
                        </p:animClr>
                        <p:animScale>
                          <p:cBhvr>
                            <p:cTn id="56" dur="350" fill="hold"/>
                            <p:tgtEl>
                              <p:spTgt spid="53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  <p:par>
              <p:cTn id="57" fill="hold">
                <p:stCondLst>
                  <p:cond evt="onClick" delay="0">
                    <p:tgtEl>
                      <p:spTgt spid="55"/>
                    </p:tgtEl>
                  </p:cond>
                </p:stCondLst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59" dur="350" fill="hold"/>
                            <p:tgtEl>
                              <p:spTgt spid="54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60" dur="350" fill="hold"/>
                            <p:tgtEl>
                              <p:spTgt spid="54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2563EB"/>
                          </p:to>
                        </p:animClr>
                        <p:animScale>
                          <p:cBhvr>
                            <p:cTn id="61" dur="350" fill="hold"/>
                            <p:tgtEl>
                              <p:spTgt spid="55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  <p:par>
              <p:cTn id="62" fill="hold">
                <p:stCondLst>
                  <p:cond evt="onClick" delay="0">
                    <p:tgtEl>
                      <p:spTgt spid="57"/>
                    </p:tgtEl>
                  </p:cond>
                </p:stCondLst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64" dur="350" fill="hold"/>
                            <p:tgtEl>
                              <p:spTgt spid="56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65" dur="350" fill="hold"/>
                            <p:tgtEl>
                              <p:spTgt spid="56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DC2626"/>
                          </p:to>
                        </p:animClr>
                        <p:animScale>
                          <p:cBhvr>
                            <p:cTn id="66" dur="350" fill="hold"/>
                            <p:tgtEl>
                              <p:spTgt spid="57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  <p:par>
              <p:cTn id="67" fill="hold">
                <p:stCondLst>
                  <p:cond evt="onClick" delay="0">
                    <p:tgtEl>
                      <p:spTgt spid="59"/>
                    </p:tgtEl>
                  </p:cond>
                </p:stCondLst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animScale>
                          <p:cBhvr>
                            <p:cTn id="69" dur="350" fill="hold"/>
                            <p:tgtEl>
                              <p:spTgt spid="58"/>
                            </p:tgtEl>
                          </p:cBhvr>
                          <p:by x="118000" y="118000"/>
                        </p:animScale>
                        <p:animClr clrSpc="rgb" dir="cw">
                          <p:cBhvr>
                            <p:cTn id="70" dur="350" fill="hold"/>
                            <p:tgtEl>
                              <p:spTgt spid="58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D97706"/>
                          </p:to>
                        </p:animClr>
                        <p:animScale>
                          <p:cBhvr>
                            <p:cTn id="71" dur="350" fill="hold"/>
                            <p:tgtEl>
                              <p:spTgt spid="59"/>
                            </p:tgtEl>
                          </p:cBhvr>
                          <p:by x="118000" y="118000"/>
                        </p:animScale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65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Problem Statement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67" name="CustomShape 4"/>
          <p:cNvSpPr/>
          <p:nvPr/>
        </p:nvSpPr>
        <p:spPr>
          <a:xfrm>
            <a:off x="365760" y="868680"/>
            <a:ext cx="8411760" cy="91368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  <a:effectLst>
            <a:outerShdw dist="37674" dir="8100000">
              <a:srgbClr val="000000">
                <a:alpha val="1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" name="CustomShape 5"/>
          <p:cNvSpPr/>
          <p:nvPr/>
        </p:nvSpPr>
        <p:spPr>
          <a:xfrm>
            <a:off x="502920" y="868680"/>
            <a:ext cx="8228880" cy="913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FFFFFF"/>
                </a:solidFill>
                <a:latin typeface="Calibri"/>
                <a:ea typeface="Calibri"/>
              </a:rPr>
              <a:t>"Developers waste hours navigating unfamiliar code bases — searching through files with no context, no explanation, no diagram."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69" name="CustomShape 6"/>
          <p:cNvSpPr/>
          <p:nvPr/>
        </p:nvSpPr>
        <p:spPr>
          <a:xfrm>
            <a:off x="274320" y="1920240"/>
            <a:ext cx="2742480" cy="27424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" name="CustomShape 7"/>
          <p:cNvSpPr/>
          <p:nvPr/>
        </p:nvSpPr>
        <p:spPr>
          <a:xfrm>
            <a:off x="274320" y="1920240"/>
            <a:ext cx="2742480" cy="5400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" name="CustomShape 8"/>
          <p:cNvSpPr/>
          <p:nvPr/>
        </p:nvSpPr>
        <p:spPr>
          <a:xfrm>
            <a:off x="1280160" y="1993320"/>
            <a:ext cx="593640" cy="593640"/>
          </a:xfrm>
          <a:prstGeom prst="ellipse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2" name="CustomShape 9"/>
          <p:cNvSpPr/>
          <p:nvPr/>
        </p:nvSpPr>
        <p:spPr>
          <a:xfrm>
            <a:off x="1280160" y="1993320"/>
            <a:ext cx="59364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3" name="CustomShape 10"/>
          <p:cNvSpPr/>
          <p:nvPr/>
        </p:nvSpPr>
        <p:spPr>
          <a:xfrm>
            <a:off x="384120" y="2697480"/>
            <a:ext cx="2522880" cy="41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A3A8F"/>
                </a:solidFill>
                <a:latin typeface="Arial"/>
                <a:ea typeface="Arial"/>
              </a:rPr>
              <a:t>Raw Search Results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74" name="CustomShape 11"/>
          <p:cNvSpPr/>
          <p:nvPr/>
        </p:nvSpPr>
        <p:spPr>
          <a:xfrm>
            <a:off x="384120" y="3127320"/>
            <a:ext cx="2522880" cy="144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Tools like grep/GitHub Search return raw matches with no contextual explanation of what the code does or why it is structured that way.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75" name="CustomShape 12"/>
          <p:cNvSpPr/>
          <p:nvPr/>
        </p:nvSpPr>
        <p:spPr>
          <a:xfrm>
            <a:off x="3218760" y="1920240"/>
            <a:ext cx="2742480" cy="27424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6" name="CustomShape 13"/>
          <p:cNvSpPr/>
          <p:nvPr/>
        </p:nvSpPr>
        <p:spPr>
          <a:xfrm>
            <a:off x="3218760" y="1920240"/>
            <a:ext cx="2742480" cy="5400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14"/>
          <p:cNvSpPr/>
          <p:nvPr/>
        </p:nvSpPr>
        <p:spPr>
          <a:xfrm>
            <a:off x="4224600" y="1993320"/>
            <a:ext cx="593640" cy="593640"/>
          </a:xfrm>
          <a:prstGeom prst="ellipse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15"/>
          <p:cNvSpPr/>
          <p:nvPr/>
        </p:nvSpPr>
        <p:spPr>
          <a:xfrm>
            <a:off x="4224600" y="1993320"/>
            <a:ext cx="59364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79" name="CustomShape 16"/>
          <p:cNvSpPr/>
          <p:nvPr/>
        </p:nvSpPr>
        <p:spPr>
          <a:xfrm>
            <a:off x="3328560" y="2697480"/>
            <a:ext cx="2522880" cy="41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6D28D9"/>
                </a:solidFill>
                <a:latin typeface="Arial"/>
                <a:ea typeface="Arial"/>
              </a:rPr>
              <a:t>No Architecture View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0" name="CustomShape 17"/>
          <p:cNvSpPr/>
          <p:nvPr/>
        </p:nvSpPr>
        <p:spPr>
          <a:xfrm>
            <a:off x="3328560" y="3127320"/>
            <a:ext cx="2522880" cy="144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There is no quick way to get an architecture diagram or understand module dependencies without reading the entire code base manually.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81" name="CustomShape 18"/>
          <p:cNvSpPr/>
          <p:nvPr/>
        </p:nvSpPr>
        <p:spPr>
          <a:xfrm>
            <a:off x="6163200" y="1920240"/>
            <a:ext cx="2742480" cy="27424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19"/>
          <p:cNvSpPr/>
          <p:nvPr/>
        </p:nvSpPr>
        <p:spPr>
          <a:xfrm>
            <a:off x="6163200" y="1920240"/>
            <a:ext cx="2742480" cy="54000"/>
          </a:xfrm>
          <a:prstGeom prst="rect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20"/>
          <p:cNvSpPr/>
          <p:nvPr/>
        </p:nvSpPr>
        <p:spPr>
          <a:xfrm>
            <a:off x="7169040" y="1993320"/>
            <a:ext cx="593640" cy="593640"/>
          </a:xfrm>
          <a:prstGeom prst="ellipse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" name="CustomShape 21"/>
          <p:cNvSpPr/>
          <p:nvPr/>
        </p:nvSpPr>
        <p:spPr>
          <a:xfrm>
            <a:off x="7169040" y="1993320"/>
            <a:ext cx="593640" cy="593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lang="en-US" sz="1600" b="0" strike="noStrike" spc="-1">
              <a:latin typeface="Arial"/>
            </a:endParaRPr>
          </a:p>
        </p:txBody>
      </p:sp>
      <p:sp>
        <p:nvSpPr>
          <p:cNvPr id="85" name="CustomShape 22"/>
          <p:cNvSpPr/>
          <p:nvPr/>
        </p:nvSpPr>
        <p:spPr>
          <a:xfrm>
            <a:off x="6272640" y="2697480"/>
            <a:ext cx="2522880" cy="41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0D6E3C"/>
                </a:solidFill>
                <a:latin typeface="Arial"/>
                <a:ea typeface="Arial"/>
              </a:rPr>
              <a:t>Time-Consuming On-boarding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86" name="CustomShape 23"/>
          <p:cNvSpPr/>
          <p:nvPr/>
        </p:nvSpPr>
        <p:spPr>
          <a:xfrm>
            <a:off x="6272640" y="3127320"/>
            <a:ext cx="2522880" cy="144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Junior developers and new team members spend days just understanding a project before contributing meaningful code changes.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87" name="CustomShape 24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" name="CustomShape 25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Problem Statement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Solution - RAG Pipeline Architecture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92" name="CustomShape 4"/>
          <p:cNvSpPr/>
          <p:nvPr/>
        </p:nvSpPr>
        <p:spPr>
          <a:xfrm>
            <a:off x="777240" y="868680"/>
            <a:ext cx="529560" cy="529560"/>
          </a:xfrm>
          <a:prstGeom prst="ellipse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5"/>
          <p:cNvSpPr/>
          <p:nvPr/>
        </p:nvSpPr>
        <p:spPr>
          <a:xfrm>
            <a:off x="77724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4" name="CustomShape 6"/>
          <p:cNvSpPr/>
          <p:nvPr/>
        </p:nvSpPr>
        <p:spPr>
          <a:xfrm>
            <a:off x="182880" y="1463040"/>
            <a:ext cx="1681920" cy="47484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7"/>
          <p:cNvSpPr/>
          <p:nvPr/>
        </p:nvSpPr>
        <p:spPr>
          <a:xfrm>
            <a:off x="18288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INDEX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96" name="CustomShape 8"/>
          <p:cNvSpPr/>
          <p:nvPr/>
        </p:nvSpPr>
        <p:spPr>
          <a:xfrm>
            <a:off x="18288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7" name="CustomShape 9"/>
          <p:cNvSpPr/>
          <p:nvPr/>
        </p:nvSpPr>
        <p:spPr>
          <a:xfrm>
            <a:off x="18288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File System API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recursive scan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IndexedFiles[]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98" name="Line 10"/>
          <p:cNvSpPr/>
          <p:nvPr/>
        </p:nvSpPr>
        <p:spPr>
          <a:xfrm>
            <a:off x="1865160" y="1700640"/>
            <a:ext cx="91440" cy="0"/>
          </a:xfrm>
          <a:prstGeom prst="line">
            <a:avLst/>
          </a:prstGeom>
          <a:ln w="255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CustomShape 11"/>
          <p:cNvSpPr/>
          <p:nvPr/>
        </p:nvSpPr>
        <p:spPr>
          <a:xfrm>
            <a:off x="2551320" y="868680"/>
            <a:ext cx="529560" cy="529560"/>
          </a:xfrm>
          <a:prstGeom prst="ellipse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" name="CustomShape 12"/>
          <p:cNvSpPr/>
          <p:nvPr/>
        </p:nvSpPr>
        <p:spPr>
          <a:xfrm>
            <a:off x="255132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1" name="CustomShape 13"/>
          <p:cNvSpPr/>
          <p:nvPr/>
        </p:nvSpPr>
        <p:spPr>
          <a:xfrm>
            <a:off x="1956960" y="1463040"/>
            <a:ext cx="1681920" cy="47484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CustomShape 14"/>
          <p:cNvSpPr/>
          <p:nvPr/>
        </p:nvSpPr>
        <p:spPr>
          <a:xfrm>
            <a:off x="195696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QUERY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03" name="CustomShape 15"/>
          <p:cNvSpPr/>
          <p:nvPr/>
        </p:nvSpPr>
        <p:spPr>
          <a:xfrm>
            <a:off x="195696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6"/>
          <p:cNvSpPr/>
          <p:nvPr/>
        </p:nvSpPr>
        <p:spPr>
          <a:xfrm>
            <a:off x="195696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User types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natural language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question in chat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05" name="Line 17"/>
          <p:cNvSpPr/>
          <p:nvPr/>
        </p:nvSpPr>
        <p:spPr>
          <a:xfrm>
            <a:off x="3639240" y="1700640"/>
            <a:ext cx="91440" cy="0"/>
          </a:xfrm>
          <a:prstGeom prst="line">
            <a:avLst/>
          </a:prstGeom>
          <a:ln w="255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CustomShape 18"/>
          <p:cNvSpPr/>
          <p:nvPr/>
        </p:nvSpPr>
        <p:spPr>
          <a:xfrm>
            <a:off x="4325040" y="868680"/>
            <a:ext cx="529560" cy="529560"/>
          </a:xfrm>
          <a:prstGeom prst="ellipse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9"/>
          <p:cNvSpPr/>
          <p:nvPr/>
        </p:nvSpPr>
        <p:spPr>
          <a:xfrm>
            <a:off x="432504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8" name="CustomShape 20"/>
          <p:cNvSpPr/>
          <p:nvPr/>
        </p:nvSpPr>
        <p:spPr>
          <a:xfrm>
            <a:off x="3730680" y="1463040"/>
            <a:ext cx="1681920" cy="474840"/>
          </a:xfrm>
          <a:prstGeom prst="rect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CustomShape 21"/>
          <p:cNvSpPr/>
          <p:nvPr/>
        </p:nvSpPr>
        <p:spPr>
          <a:xfrm>
            <a:off x="373068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AUGMENT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0" name="CustomShape 22"/>
          <p:cNvSpPr/>
          <p:nvPr/>
        </p:nvSpPr>
        <p:spPr>
          <a:xfrm>
            <a:off x="373068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23"/>
          <p:cNvSpPr/>
          <p:nvPr/>
        </p:nvSpPr>
        <p:spPr>
          <a:xfrm>
            <a:off x="373068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Up to 80 files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+ last 4 messages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as LLM context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2" name="Line 24"/>
          <p:cNvSpPr/>
          <p:nvPr/>
        </p:nvSpPr>
        <p:spPr>
          <a:xfrm>
            <a:off x="5412960" y="1700640"/>
            <a:ext cx="91440" cy="0"/>
          </a:xfrm>
          <a:prstGeom prst="line">
            <a:avLst/>
          </a:prstGeom>
          <a:ln w="255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3" name="CustomShape 25"/>
          <p:cNvSpPr/>
          <p:nvPr/>
        </p:nvSpPr>
        <p:spPr>
          <a:xfrm>
            <a:off x="6099120" y="868680"/>
            <a:ext cx="529560" cy="529560"/>
          </a:xfrm>
          <a:prstGeom prst="ellipse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CustomShape 26"/>
          <p:cNvSpPr/>
          <p:nvPr/>
        </p:nvSpPr>
        <p:spPr>
          <a:xfrm>
            <a:off x="609912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15" name="CustomShape 27"/>
          <p:cNvSpPr/>
          <p:nvPr/>
        </p:nvSpPr>
        <p:spPr>
          <a:xfrm>
            <a:off x="5504760" y="1463040"/>
            <a:ext cx="1681920" cy="474840"/>
          </a:xfrm>
          <a:prstGeom prst="rect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6" name="CustomShape 28"/>
          <p:cNvSpPr/>
          <p:nvPr/>
        </p:nvSpPr>
        <p:spPr>
          <a:xfrm>
            <a:off x="550476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GENERATE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17" name="CustomShape 29"/>
          <p:cNvSpPr/>
          <p:nvPr/>
        </p:nvSpPr>
        <p:spPr>
          <a:xfrm>
            <a:off x="550476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8" name="CustomShape 30"/>
          <p:cNvSpPr/>
          <p:nvPr/>
        </p:nvSpPr>
        <p:spPr>
          <a:xfrm>
            <a:off x="550476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Groq LLaMA 3.3-70B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structured JSON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response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9" name="Line 31"/>
          <p:cNvSpPr/>
          <p:nvPr/>
        </p:nvSpPr>
        <p:spPr>
          <a:xfrm>
            <a:off x="7187040" y="1700640"/>
            <a:ext cx="91440" cy="0"/>
          </a:xfrm>
          <a:prstGeom prst="line">
            <a:avLst/>
          </a:prstGeom>
          <a:ln w="25560">
            <a:solidFill>
              <a:srgbClr val="A78B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0" name="CustomShape 32"/>
          <p:cNvSpPr/>
          <p:nvPr/>
        </p:nvSpPr>
        <p:spPr>
          <a:xfrm>
            <a:off x="7872840" y="868680"/>
            <a:ext cx="529560" cy="529560"/>
          </a:xfrm>
          <a:prstGeom prst="ellipse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1" name="CustomShape 33"/>
          <p:cNvSpPr/>
          <p:nvPr/>
        </p:nvSpPr>
        <p:spPr>
          <a:xfrm>
            <a:off x="7872840" y="868680"/>
            <a:ext cx="52956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DejaVu Sans"/>
              </a:rPr>
              <a:t>5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22" name="CustomShape 34"/>
          <p:cNvSpPr/>
          <p:nvPr/>
        </p:nvSpPr>
        <p:spPr>
          <a:xfrm>
            <a:off x="7278480" y="1463040"/>
            <a:ext cx="1681920" cy="474840"/>
          </a:xfrm>
          <a:prstGeom prst="rect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5"/>
          <p:cNvSpPr/>
          <p:nvPr/>
        </p:nvSpPr>
        <p:spPr>
          <a:xfrm>
            <a:off x="7278480" y="1463040"/>
            <a:ext cx="168192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DejaVu Sans"/>
              </a:rPr>
              <a:t>RENDER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4" name="CustomShape 36"/>
          <p:cNvSpPr/>
          <p:nvPr/>
        </p:nvSpPr>
        <p:spPr>
          <a:xfrm>
            <a:off x="7278480" y="1938600"/>
            <a:ext cx="1681920" cy="959400"/>
          </a:xfrm>
          <a:prstGeom prst="rect">
            <a:avLst/>
          </a:prstGeom>
          <a:solidFill>
            <a:srgbClr val="EEF2F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7"/>
          <p:cNvSpPr/>
          <p:nvPr/>
        </p:nvSpPr>
        <p:spPr>
          <a:xfrm>
            <a:off x="7278480" y="1938600"/>
            <a:ext cx="1681920" cy="95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Text + Citations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Code Blocks</a:t>
            </a:r>
            <a:endParaRPr lang="en-US" sz="10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DejaVu Sans"/>
              </a:rPr>
              <a:t>Mermaid Diagrams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26" name="CustomShape 38"/>
          <p:cNvSpPr/>
          <p:nvPr/>
        </p:nvSpPr>
        <p:spPr>
          <a:xfrm>
            <a:off x="365760" y="3063240"/>
            <a:ext cx="8411760" cy="657720"/>
          </a:xfrm>
          <a:prstGeom prst="rect">
            <a:avLst/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CustomShape 39"/>
          <p:cNvSpPr/>
          <p:nvPr/>
        </p:nvSpPr>
        <p:spPr>
          <a:xfrm>
            <a:off x="502920" y="3063240"/>
            <a:ext cx="8228880" cy="657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A78BFA"/>
                </a:solidFill>
                <a:latin typeface="Calibri"/>
                <a:ea typeface="Calibri"/>
              </a:rPr>
              <a:t>Privacy-First:  No file contents are uploaded - only file paths are sent to the LLM. Code stays entirely on the developer's local machine.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128" name="CustomShape 40"/>
          <p:cNvSpPr/>
          <p:nvPr/>
        </p:nvSpPr>
        <p:spPr>
          <a:xfrm>
            <a:off x="365760" y="3822120"/>
            <a:ext cx="8411760" cy="80388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41"/>
          <p:cNvSpPr/>
          <p:nvPr/>
        </p:nvSpPr>
        <p:spPr>
          <a:xfrm>
            <a:off x="502920" y="3840480"/>
            <a:ext cx="8228880" cy="767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050" b="1" strike="noStrike" spc="-1">
                <a:solidFill>
                  <a:srgbClr val="6D28D9"/>
                </a:solidFill>
                <a:latin typeface="Calibri"/>
                <a:ea typeface="Calibri"/>
              </a:rPr>
              <a:t>Context Window:  </a:t>
            </a: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Max 80 files per query. Smart ranking by filename similarity ensures most relevant files are included within the token budget.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6D28D9"/>
                </a:solidFill>
                <a:latin typeface="Calibri"/>
                <a:ea typeface="Calibri"/>
              </a:rPr>
              <a:t>Conversation Memory:  </a:t>
            </a: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Last 4 messages of chat history persisted via redux-persist to localStorage.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30" name="CustomShape 42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1" name="CustomShape 43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RAG Pipeline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4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Tech Stack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35" name="CustomShape 4"/>
          <p:cNvSpPr/>
          <p:nvPr/>
        </p:nvSpPr>
        <p:spPr>
          <a:xfrm>
            <a:off x="274320" y="868680"/>
            <a:ext cx="8594640" cy="529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CustomShape 5"/>
          <p:cNvSpPr/>
          <p:nvPr/>
        </p:nvSpPr>
        <p:spPr>
          <a:xfrm>
            <a:off x="274320" y="868680"/>
            <a:ext cx="54000" cy="52956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7" name="CustomShape 6"/>
          <p:cNvSpPr/>
          <p:nvPr/>
        </p:nvSpPr>
        <p:spPr>
          <a:xfrm>
            <a:off x="411480" y="86868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3A8F"/>
                </a:solidFill>
                <a:latin typeface="Arial"/>
                <a:ea typeface="Arial"/>
              </a:rPr>
              <a:t>Frontend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38" name="CustomShape 7"/>
          <p:cNvSpPr/>
          <p:nvPr/>
        </p:nvSpPr>
        <p:spPr>
          <a:xfrm>
            <a:off x="2377440" y="86868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Next.js 16  |  React 19  |  TypeScript  |  Tailwind CSS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39" name="CustomShape 8"/>
          <p:cNvSpPr/>
          <p:nvPr/>
        </p:nvSpPr>
        <p:spPr>
          <a:xfrm>
            <a:off x="274320" y="1449360"/>
            <a:ext cx="8594640" cy="52956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0" name="CustomShape 9"/>
          <p:cNvSpPr/>
          <p:nvPr/>
        </p:nvSpPr>
        <p:spPr>
          <a:xfrm>
            <a:off x="274320" y="1449360"/>
            <a:ext cx="54000" cy="52956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CustomShape 10"/>
          <p:cNvSpPr/>
          <p:nvPr/>
        </p:nvSpPr>
        <p:spPr>
          <a:xfrm>
            <a:off x="411480" y="144936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6D28D9"/>
                </a:solidFill>
                <a:latin typeface="Arial"/>
                <a:ea typeface="Arial"/>
              </a:rPr>
              <a:t>State Mgmt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42" name="CustomShape 11"/>
          <p:cNvSpPr/>
          <p:nvPr/>
        </p:nvSpPr>
        <p:spPr>
          <a:xfrm>
            <a:off x="2377440" y="144936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Redux Toolkit  +  redux-persist  (localStorage)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43" name="CustomShape 12"/>
          <p:cNvSpPr/>
          <p:nvPr/>
        </p:nvSpPr>
        <p:spPr>
          <a:xfrm>
            <a:off x="274320" y="2030040"/>
            <a:ext cx="8594640" cy="529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13"/>
          <p:cNvSpPr/>
          <p:nvPr/>
        </p:nvSpPr>
        <p:spPr>
          <a:xfrm>
            <a:off x="274320" y="2030040"/>
            <a:ext cx="54000" cy="529560"/>
          </a:xfrm>
          <a:prstGeom prst="rect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14"/>
          <p:cNvSpPr/>
          <p:nvPr/>
        </p:nvSpPr>
        <p:spPr>
          <a:xfrm>
            <a:off x="411480" y="203004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0D6E3C"/>
                </a:solidFill>
                <a:latin typeface="Arial"/>
                <a:ea typeface="Arial"/>
              </a:rPr>
              <a:t>UI Components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46" name="CustomShape 15"/>
          <p:cNvSpPr/>
          <p:nvPr/>
        </p:nvSpPr>
        <p:spPr>
          <a:xfrm>
            <a:off x="2377440" y="203004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shadcn/ui  |  Framer Motion  |  Lucide Icons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47" name="CustomShape 16"/>
          <p:cNvSpPr/>
          <p:nvPr/>
        </p:nvSpPr>
        <p:spPr>
          <a:xfrm>
            <a:off x="274320" y="2610720"/>
            <a:ext cx="8594640" cy="52956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8" name="CustomShape 17"/>
          <p:cNvSpPr/>
          <p:nvPr/>
        </p:nvSpPr>
        <p:spPr>
          <a:xfrm>
            <a:off x="274320" y="2610720"/>
            <a:ext cx="54000" cy="529560"/>
          </a:xfrm>
          <a:prstGeom prst="rect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9" name="CustomShape 18"/>
          <p:cNvSpPr/>
          <p:nvPr/>
        </p:nvSpPr>
        <p:spPr>
          <a:xfrm>
            <a:off x="411480" y="261072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A3A1A"/>
                </a:solidFill>
                <a:latin typeface="Arial"/>
                <a:ea typeface="Arial"/>
              </a:rPr>
              <a:t>LLM / AI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0" name="CustomShape 19"/>
          <p:cNvSpPr/>
          <p:nvPr/>
        </p:nvSpPr>
        <p:spPr>
          <a:xfrm>
            <a:off x="2377440" y="261072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Groq API  -  LLaMA 3.3-70B Versatile (fast inference)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51" name="CustomShape 20"/>
          <p:cNvSpPr/>
          <p:nvPr/>
        </p:nvSpPr>
        <p:spPr>
          <a:xfrm>
            <a:off x="274320" y="3191400"/>
            <a:ext cx="8594640" cy="529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21"/>
          <p:cNvSpPr/>
          <p:nvPr/>
        </p:nvSpPr>
        <p:spPr>
          <a:xfrm>
            <a:off x="274320" y="3191400"/>
            <a:ext cx="54000" cy="529560"/>
          </a:xfrm>
          <a:prstGeom prst="rect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3" name="CustomShape 22"/>
          <p:cNvSpPr/>
          <p:nvPr/>
        </p:nvSpPr>
        <p:spPr>
          <a:xfrm>
            <a:off x="411480" y="319140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2E7D8A"/>
                </a:solidFill>
                <a:latin typeface="Arial"/>
                <a:ea typeface="Arial"/>
              </a:rPr>
              <a:t>Diagrams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4" name="CustomShape 23"/>
          <p:cNvSpPr/>
          <p:nvPr/>
        </p:nvSpPr>
        <p:spPr>
          <a:xfrm>
            <a:off x="2377440" y="319140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Mermaid.js  -  Flowchart / Sequence / Class diagrams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55" name="CustomShape 24"/>
          <p:cNvSpPr/>
          <p:nvPr/>
        </p:nvSpPr>
        <p:spPr>
          <a:xfrm>
            <a:off x="274320" y="3772080"/>
            <a:ext cx="8594640" cy="52956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6" name="CustomShape 25"/>
          <p:cNvSpPr/>
          <p:nvPr/>
        </p:nvSpPr>
        <p:spPr>
          <a:xfrm>
            <a:off x="274320" y="3772080"/>
            <a:ext cx="54000" cy="529560"/>
          </a:xfrm>
          <a:prstGeom prst="rect">
            <a:avLst/>
          </a:prstGeom>
          <a:solidFill>
            <a:srgbClr val="5E35B1"/>
          </a:solidFill>
          <a:ln w="12600">
            <a:solidFill>
              <a:srgbClr val="5E35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7" name="CustomShape 26"/>
          <p:cNvSpPr/>
          <p:nvPr/>
        </p:nvSpPr>
        <p:spPr>
          <a:xfrm>
            <a:off x="411480" y="377208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5E35B1"/>
                </a:solidFill>
                <a:latin typeface="Arial"/>
                <a:ea typeface="Arial"/>
              </a:rPr>
              <a:t>File Access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58" name="CustomShape 27"/>
          <p:cNvSpPr/>
          <p:nvPr/>
        </p:nvSpPr>
        <p:spPr>
          <a:xfrm>
            <a:off x="2377440" y="377208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Browser File System Access API  (Chrome / Edge Desktop only)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59" name="CustomShape 28"/>
          <p:cNvSpPr/>
          <p:nvPr/>
        </p:nvSpPr>
        <p:spPr>
          <a:xfrm>
            <a:off x="274320" y="4352400"/>
            <a:ext cx="8594640" cy="5295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0" name="CustomShape 29"/>
          <p:cNvSpPr/>
          <p:nvPr/>
        </p:nvSpPr>
        <p:spPr>
          <a:xfrm>
            <a:off x="274320" y="4352400"/>
            <a:ext cx="54000" cy="529560"/>
          </a:xfrm>
          <a:prstGeom prst="rect">
            <a:avLst/>
          </a:prstGeom>
          <a:solidFill>
            <a:srgbClr val="1B1F23"/>
          </a:solidFill>
          <a:ln w="12600">
            <a:solidFill>
              <a:srgbClr val="1B1F2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1" name="CustomShape 30"/>
          <p:cNvSpPr/>
          <p:nvPr/>
        </p:nvSpPr>
        <p:spPr>
          <a:xfrm>
            <a:off x="411480" y="4352400"/>
            <a:ext cx="191952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B1F23"/>
                </a:solidFill>
                <a:latin typeface="Arial"/>
                <a:ea typeface="Arial"/>
              </a:rPr>
              <a:t>Deployment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62" name="CustomShape 31"/>
          <p:cNvSpPr/>
          <p:nvPr/>
        </p:nvSpPr>
        <p:spPr>
          <a:xfrm>
            <a:off x="2377440" y="4352400"/>
            <a:ext cx="630864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1A1035"/>
                </a:solidFill>
                <a:latin typeface="Calibri"/>
                <a:ea typeface="Calibri"/>
              </a:rPr>
              <a:t>Vercel  -  CI/CD auto-deploy on every git push to main branch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163" name="CustomShape 32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4" name="CustomShape 33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Tech Stack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7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Key Features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68" name="CustomShape 4"/>
          <p:cNvSpPr/>
          <p:nvPr/>
        </p:nvSpPr>
        <p:spPr>
          <a:xfrm>
            <a:off x="255960" y="87768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9" name="CustomShape 5"/>
          <p:cNvSpPr/>
          <p:nvPr/>
        </p:nvSpPr>
        <p:spPr>
          <a:xfrm>
            <a:off x="255960" y="877680"/>
            <a:ext cx="63360" cy="120636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6"/>
          <p:cNvSpPr/>
          <p:nvPr/>
        </p:nvSpPr>
        <p:spPr>
          <a:xfrm>
            <a:off x="393120" y="951120"/>
            <a:ext cx="474840" cy="474840"/>
          </a:xfrm>
          <a:prstGeom prst="ellipse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1" name="CustomShape 7"/>
          <p:cNvSpPr/>
          <p:nvPr/>
        </p:nvSpPr>
        <p:spPr>
          <a:xfrm>
            <a:off x="393120" y="95112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01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72" name="CustomShape 8"/>
          <p:cNvSpPr/>
          <p:nvPr/>
        </p:nvSpPr>
        <p:spPr>
          <a:xfrm>
            <a:off x="969120" y="95112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A3A8F"/>
                </a:solidFill>
                <a:latin typeface="Arial"/>
                <a:ea typeface="Arial"/>
              </a:rPr>
              <a:t>Repository Indexing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73" name="CustomShape 9"/>
          <p:cNvSpPr/>
          <p:nvPr/>
        </p:nvSpPr>
        <p:spPr>
          <a:xfrm>
            <a:off x="393120" y="147204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Recursively scans any local folder. Detects dominant language. Builds IndexedFiles[] in Redux state in seconds.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74" name="CustomShape 10"/>
          <p:cNvSpPr/>
          <p:nvPr/>
        </p:nvSpPr>
        <p:spPr>
          <a:xfrm>
            <a:off x="4736520" y="87768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11"/>
          <p:cNvSpPr/>
          <p:nvPr/>
        </p:nvSpPr>
        <p:spPr>
          <a:xfrm>
            <a:off x="4736520" y="877680"/>
            <a:ext cx="63360" cy="120636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12"/>
          <p:cNvSpPr/>
          <p:nvPr/>
        </p:nvSpPr>
        <p:spPr>
          <a:xfrm>
            <a:off x="4873680" y="951120"/>
            <a:ext cx="474840" cy="474840"/>
          </a:xfrm>
          <a:prstGeom prst="ellipse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13"/>
          <p:cNvSpPr/>
          <p:nvPr/>
        </p:nvSpPr>
        <p:spPr>
          <a:xfrm>
            <a:off x="4873680" y="95112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02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78" name="CustomShape 14"/>
          <p:cNvSpPr/>
          <p:nvPr/>
        </p:nvSpPr>
        <p:spPr>
          <a:xfrm>
            <a:off x="5449680" y="95112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6D28D9"/>
                </a:solidFill>
                <a:latin typeface="Arial"/>
                <a:ea typeface="Arial"/>
              </a:rPr>
              <a:t>Conversational Q&amp;A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79" name="CustomShape 15"/>
          <p:cNvSpPr/>
          <p:nvPr/>
        </p:nvSpPr>
        <p:spPr>
          <a:xfrm>
            <a:off x="4873680" y="147204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Multi-turn chat with full code base context. Responses cite specific file:line references so you always know the source.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80" name="CustomShape 16"/>
          <p:cNvSpPr/>
          <p:nvPr/>
        </p:nvSpPr>
        <p:spPr>
          <a:xfrm>
            <a:off x="255960" y="220356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1" name="CustomShape 17"/>
          <p:cNvSpPr/>
          <p:nvPr/>
        </p:nvSpPr>
        <p:spPr>
          <a:xfrm>
            <a:off x="255960" y="2203560"/>
            <a:ext cx="63360" cy="1206360"/>
          </a:xfrm>
          <a:prstGeom prst="rect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2" name="CustomShape 18"/>
          <p:cNvSpPr/>
          <p:nvPr/>
        </p:nvSpPr>
        <p:spPr>
          <a:xfrm>
            <a:off x="393120" y="2277000"/>
            <a:ext cx="474840" cy="474840"/>
          </a:xfrm>
          <a:prstGeom prst="ellipse">
            <a:avLst/>
          </a:prstGeom>
          <a:solidFill>
            <a:srgbClr val="0D6E3C"/>
          </a:solidFill>
          <a:ln w="12600">
            <a:solidFill>
              <a:srgbClr val="0D6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3" name="CustomShape 19"/>
          <p:cNvSpPr/>
          <p:nvPr/>
        </p:nvSpPr>
        <p:spPr>
          <a:xfrm>
            <a:off x="393120" y="227700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03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84" name="CustomShape 20"/>
          <p:cNvSpPr/>
          <p:nvPr/>
        </p:nvSpPr>
        <p:spPr>
          <a:xfrm>
            <a:off x="969120" y="227700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0D6E3C"/>
                </a:solidFill>
                <a:latin typeface="Arial"/>
                <a:ea typeface="Arial"/>
              </a:rPr>
              <a:t>Auto Diagrams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85" name="CustomShape 21"/>
          <p:cNvSpPr/>
          <p:nvPr/>
        </p:nvSpPr>
        <p:spPr>
          <a:xfrm>
            <a:off x="393120" y="279792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Ask 'draw the architecture' and get a live Mermaid flowchart, sequence, or class diagram rendered inline in the chat.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86" name="CustomShape 22"/>
          <p:cNvSpPr/>
          <p:nvPr/>
        </p:nvSpPr>
        <p:spPr>
          <a:xfrm>
            <a:off x="4736520" y="220356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7" name="CustomShape 23"/>
          <p:cNvSpPr/>
          <p:nvPr/>
        </p:nvSpPr>
        <p:spPr>
          <a:xfrm>
            <a:off x="4736520" y="2203560"/>
            <a:ext cx="63360" cy="1206360"/>
          </a:xfrm>
          <a:prstGeom prst="rect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8" name="CustomShape 24"/>
          <p:cNvSpPr/>
          <p:nvPr/>
        </p:nvSpPr>
        <p:spPr>
          <a:xfrm>
            <a:off x="4873680" y="2277000"/>
            <a:ext cx="474840" cy="474840"/>
          </a:xfrm>
          <a:prstGeom prst="ellipse">
            <a:avLst/>
          </a:prstGeom>
          <a:solidFill>
            <a:srgbClr val="8A3A1A"/>
          </a:solidFill>
          <a:ln w="12600">
            <a:solidFill>
              <a:srgbClr val="8A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9" name="CustomShape 25"/>
          <p:cNvSpPr/>
          <p:nvPr/>
        </p:nvSpPr>
        <p:spPr>
          <a:xfrm>
            <a:off x="4873680" y="227700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04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90" name="CustomShape 26"/>
          <p:cNvSpPr/>
          <p:nvPr/>
        </p:nvSpPr>
        <p:spPr>
          <a:xfrm>
            <a:off x="5449680" y="227700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3A1A"/>
                </a:solidFill>
                <a:latin typeface="Arial"/>
                <a:ea typeface="Arial"/>
              </a:rPr>
              <a:t>Chat History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91" name="CustomShape 27"/>
          <p:cNvSpPr/>
          <p:nvPr/>
        </p:nvSpPr>
        <p:spPr>
          <a:xfrm>
            <a:off x="4873680" y="279792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Sessions persisted across page reloads via local Storage + redux-persist. Conversations survive browser restarts.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92" name="CustomShape 28"/>
          <p:cNvSpPr/>
          <p:nvPr/>
        </p:nvSpPr>
        <p:spPr>
          <a:xfrm>
            <a:off x="255960" y="352944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3" name="CustomShape 29"/>
          <p:cNvSpPr/>
          <p:nvPr/>
        </p:nvSpPr>
        <p:spPr>
          <a:xfrm>
            <a:off x="255960" y="3529440"/>
            <a:ext cx="63360" cy="1206360"/>
          </a:xfrm>
          <a:prstGeom prst="rect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4" name="CustomShape 30"/>
          <p:cNvSpPr/>
          <p:nvPr/>
        </p:nvSpPr>
        <p:spPr>
          <a:xfrm>
            <a:off x="393120" y="3602880"/>
            <a:ext cx="474840" cy="474840"/>
          </a:xfrm>
          <a:prstGeom prst="ellipse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31"/>
          <p:cNvSpPr/>
          <p:nvPr/>
        </p:nvSpPr>
        <p:spPr>
          <a:xfrm>
            <a:off x="393120" y="360288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05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196" name="CustomShape 32"/>
          <p:cNvSpPr/>
          <p:nvPr/>
        </p:nvSpPr>
        <p:spPr>
          <a:xfrm>
            <a:off x="969120" y="360288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2E7D8A"/>
                </a:solidFill>
                <a:latin typeface="Arial"/>
                <a:ea typeface="Arial"/>
              </a:rPr>
              <a:t>Export to .docx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197" name="CustomShape 33"/>
          <p:cNvSpPr/>
          <p:nvPr/>
        </p:nvSpPr>
        <p:spPr>
          <a:xfrm>
            <a:off x="393120" y="412380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Download any AI answer as a formatted Word document - useful for sharing analysis with teammates or managers.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198" name="CustomShape 34"/>
          <p:cNvSpPr/>
          <p:nvPr/>
        </p:nvSpPr>
        <p:spPr>
          <a:xfrm>
            <a:off x="4736520" y="3529440"/>
            <a:ext cx="4242240" cy="12063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9" name="CustomShape 35"/>
          <p:cNvSpPr/>
          <p:nvPr/>
        </p:nvSpPr>
        <p:spPr>
          <a:xfrm>
            <a:off x="4736520" y="3529440"/>
            <a:ext cx="63360" cy="1206360"/>
          </a:xfrm>
          <a:prstGeom prst="rect">
            <a:avLst/>
          </a:prstGeom>
          <a:solidFill>
            <a:srgbClr val="5E35B1"/>
          </a:solidFill>
          <a:ln w="12600">
            <a:solidFill>
              <a:srgbClr val="5E35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0" name="CustomShape 36"/>
          <p:cNvSpPr/>
          <p:nvPr/>
        </p:nvSpPr>
        <p:spPr>
          <a:xfrm>
            <a:off x="4873680" y="3602880"/>
            <a:ext cx="474840" cy="474840"/>
          </a:xfrm>
          <a:prstGeom prst="ellipse">
            <a:avLst/>
          </a:prstGeom>
          <a:solidFill>
            <a:srgbClr val="5E35B1"/>
          </a:solidFill>
          <a:ln w="12600">
            <a:solidFill>
              <a:srgbClr val="5E35B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1" name="CustomShape 37"/>
          <p:cNvSpPr/>
          <p:nvPr/>
        </p:nvSpPr>
        <p:spPr>
          <a:xfrm>
            <a:off x="4873680" y="3602880"/>
            <a:ext cx="47484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DejaVu Sans"/>
              </a:rPr>
              <a:t>06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02" name="CustomShape 38"/>
          <p:cNvSpPr/>
          <p:nvPr/>
        </p:nvSpPr>
        <p:spPr>
          <a:xfrm>
            <a:off x="5449680" y="3602880"/>
            <a:ext cx="3437280" cy="47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5E35B1"/>
                </a:solidFill>
                <a:latin typeface="Arial"/>
                <a:ea typeface="Arial"/>
              </a:rPr>
              <a:t>Recent Repos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03" name="CustomShape 39"/>
          <p:cNvSpPr/>
          <p:nvPr/>
        </p:nvSpPr>
        <p:spPr>
          <a:xfrm>
            <a:off x="4873680" y="4123800"/>
            <a:ext cx="400428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One-click re-access to previously indexed repositories. No need to re-browse or re-index on return visits.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04" name="CustomShape 40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5" name="CustomShape 41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Features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16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>
                                <p:cBhvr additive="repl">
                                  <p:cTn id="6" dur="550" fill="hold"/>
                                  <p:tgtEl>
                                    <p:spTgt spid="16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" presetID="2" presetClass="entr" presetSubtype="21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/>
                                  <p:tgtEl>
                                    <p:spTgt spid="16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9" dur="480"/>
                                  <p:tgtEl>
                                    <p:spTgt spid="16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0" dur="480" fill="hold"/>
                                  <p:tgtEl>
                                    <p:spTgt spid="16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" presetID="2" presetClass="entr" presetSubtype="2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/>
                                  <p:tgtEl>
                                    <p:spTgt spid="16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3" dur="480"/>
                                  <p:tgtEl>
                                    <p:spTgt spid="16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4" dur="480" fill="hold"/>
                                  <p:tgtEl>
                                    <p:spTgt spid="16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5" presetID="2" presetClass="entr" presetSubtype="2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/>
                                  <p:tgtEl>
                                    <p:spTgt spid="17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7" dur="480"/>
                                  <p:tgtEl>
                                    <p:spTgt spid="17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8" dur="480" fill="hold"/>
                                  <p:tgtEl>
                                    <p:spTgt spid="17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9" presetID="2" presetClass="entr" presetSubtype="21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/>
                                  <p:tgtEl>
                                    <p:spTgt spid="17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1" dur="480"/>
                                  <p:tgtEl>
                                    <p:spTgt spid="17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22" dur="480" fill="hold"/>
                                  <p:tgtEl>
                                    <p:spTgt spid="17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3" presetID="2" presetClass="entr" presetSubtype="21" fill="hold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24" dur="1" fill="hold"/>
                                  <p:tgtEl>
                                    <p:spTgt spid="17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5" dur="480"/>
                                  <p:tgtEl>
                                    <p:spTgt spid="17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26" dur="480" fill="hold"/>
                                  <p:tgtEl>
                                    <p:spTgt spid="17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27" presetID="2" presetClass="entr" presetSubtype="21" fill="hold">
                            <p:stCondLst>
                              <p:cond delay="60"/>
                            </p:stCondLst>
                            <p:childTnLst>
                              <p:set>
                                <p:cBhvr>
                                  <p:cTn id="28" dur="1" fill="hold"/>
                                  <p:tgtEl>
                                    <p:spTgt spid="17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9" dur="480"/>
                                  <p:tgtEl>
                                    <p:spTgt spid="17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30" dur="480" fill="hold"/>
                                  <p:tgtEl>
                                    <p:spTgt spid="17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1" presetID="2" presetClass="entr" presetSubtype="21" fill="hold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32" dur="1" fill="hold"/>
                                  <p:tgtEl>
                                    <p:spTgt spid="17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33" dur="480"/>
                                  <p:tgtEl>
                                    <p:spTgt spid="17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34" dur="480" fill="hold"/>
                                  <p:tgtEl>
                                    <p:spTgt spid="17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5" presetID="2" presetClass="entr" presetSubtype="21" fill="hold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36" dur="1" fill="hold"/>
                                  <p:tgtEl>
                                    <p:spTgt spid="17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37" dur="480"/>
                                  <p:tgtEl>
                                    <p:spTgt spid="17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38" dur="480" fill="hold"/>
                                  <p:tgtEl>
                                    <p:spTgt spid="17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39" presetID="2" presetClass="entr" presetSubtype="21" fill="hold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40" dur="1" fill="hold"/>
                                  <p:tgtEl>
                                    <p:spTgt spid="17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41" dur="480"/>
                                  <p:tgtEl>
                                    <p:spTgt spid="17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42" dur="480" fill="hold"/>
                                  <p:tgtEl>
                                    <p:spTgt spid="17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3" presetID="2" presetClass="entr" presetSubtype="21" fill="hold">
                            <p:stCondLst>
                              <p:cond delay="140"/>
                            </p:stCondLst>
                            <p:childTnLst>
                              <p:set>
                                <p:cBhvr>
                                  <p:cTn id="44" dur="1" fill="hold"/>
                                  <p:tgtEl>
                                    <p:spTgt spid="17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45" dur="480"/>
                                  <p:tgtEl>
                                    <p:spTgt spid="17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46" dur="480" fill="hold"/>
                                  <p:tgtEl>
                                    <p:spTgt spid="17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47" presetID="2" presetClass="entr" presetSubtype="21" fill="hold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48" dur="1" fill="hold"/>
                                  <p:tgtEl>
                                    <p:spTgt spid="17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49" dur="480"/>
                                  <p:tgtEl>
                                    <p:spTgt spid="17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50" dur="480" fill="hold"/>
                                  <p:tgtEl>
                                    <p:spTgt spid="17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1" presetID="2" presetClass="entr" presetSubtype="21" fill="hold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52" dur="1" fill="hold"/>
                                  <p:tgtEl>
                                    <p:spTgt spid="17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53" dur="480"/>
                                  <p:tgtEl>
                                    <p:spTgt spid="17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54" dur="480" fill="hold"/>
                                  <p:tgtEl>
                                    <p:spTgt spid="17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5" presetID="2" presetClass="entr" presetSubtype="21" fill="hold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56" dur="1" fill="hold"/>
                                  <p:tgtEl>
                                    <p:spTgt spid="18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57" dur="480"/>
                                  <p:tgtEl>
                                    <p:spTgt spid="18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58" dur="480" fill="hold"/>
                                  <p:tgtEl>
                                    <p:spTgt spid="18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59" presetID="2" presetClass="entr" presetSubtype="21" fill="hold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60" dur="1" fill="hold"/>
                                  <p:tgtEl>
                                    <p:spTgt spid="18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61" dur="480"/>
                                  <p:tgtEl>
                                    <p:spTgt spid="18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62" dur="480" fill="hold"/>
                                  <p:tgtEl>
                                    <p:spTgt spid="18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3" presetID="2" presetClass="entr" presetSubtype="21" fill="hold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64" dur="1" fill="hold"/>
                                  <p:tgtEl>
                                    <p:spTgt spid="18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65" dur="480"/>
                                  <p:tgtEl>
                                    <p:spTgt spid="18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66" dur="480" fill="hold"/>
                                  <p:tgtEl>
                                    <p:spTgt spid="18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67" presetID="2" presetClass="entr" presetSubtype="21" fill="hold">
                            <p:stCondLst>
                              <p:cond delay="280"/>
                            </p:stCondLst>
                            <p:childTnLst>
                              <p:set>
                                <p:cBhvr>
                                  <p:cTn id="68" dur="1" fill="hold"/>
                                  <p:tgtEl>
                                    <p:spTgt spid="18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69" dur="480"/>
                                  <p:tgtEl>
                                    <p:spTgt spid="18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70" dur="480" fill="hold"/>
                                  <p:tgtEl>
                                    <p:spTgt spid="18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1" presetID="2" presetClass="entr" presetSubtype="21" fill="hold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72" dur="1" fill="hold"/>
                                  <p:tgtEl>
                                    <p:spTgt spid="18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73" dur="480"/>
                                  <p:tgtEl>
                                    <p:spTgt spid="18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74" dur="480" fill="hold"/>
                                  <p:tgtEl>
                                    <p:spTgt spid="18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5" presetID="2" presetClass="entr" presetSubtype="21" fill="hold">
                            <p:stCondLst>
                              <p:cond delay="340"/>
                            </p:stCondLst>
                            <p:childTnLst>
                              <p:set>
                                <p:cBhvr>
                                  <p:cTn id="76" dur="1" fill="hold"/>
                                  <p:tgtEl>
                                    <p:spTgt spid="18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77" dur="480"/>
                                  <p:tgtEl>
                                    <p:spTgt spid="18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78" dur="480" fill="hold"/>
                                  <p:tgtEl>
                                    <p:spTgt spid="18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79" presetID="2" presetClass="entr" presetSubtype="21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80" dur="1" fill="hold"/>
                                  <p:tgtEl>
                                    <p:spTgt spid="18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81" dur="480"/>
                                  <p:tgtEl>
                                    <p:spTgt spid="18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82" dur="480" fill="hold"/>
                                  <p:tgtEl>
                                    <p:spTgt spid="18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3" presetID="2" presetClass="entr" presetSubtype="21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84" dur="1" fill="hold"/>
                                  <p:tgtEl>
                                    <p:spTgt spid="18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85" dur="480"/>
                                  <p:tgtEl>
                                    <p:spTgt spid="18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86" dur="480" fill="hold"/>
                                  <p:tgtEl>
                                    <p:spTgt spid="18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87" presetID="2" presetClass="entr" presetSubtype="21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88" dur="1" fill="hold"/>
                                  <p:tgtEl>
                                    <p:spTgt spid="18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89" dur="480"/>
                                  <p:tgtEl>
                                    <p:spTgt spid="18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90" dur="480" fill="hold"/>
                                  <p:tgtEl>
                                    <p:spTgt spid="18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1" presetID="2" presetClass="entr" presetSubtype="21" fill="hold">
                            <p:stCondLst>
                              <p:cond delay="420"/>
                            </p:stCondLst>
                            <p:childTnLst>
                              <p:set>
                                <p:cBhvr>
                                  <p:cTn id="92" dur="1" fill="hold"/>
                                  <p:tgtEl>
                                    <p:spTgt spid="18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93" dur="480"/>
                                  <p:tgtEl>
                                    <p:spTgt spid="18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94" dur="480" fill="hold"/>
                                  <p:tgtEl>
                                    <p:spTgt spid="18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5" presetID="2" presetClass="entr" presetSubtype="21" fill="hold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96" dur="1" fill="hold"/>
                                  <p:tgtEl>
                                    <p:spTgt spid="19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97" dur="480"/>
                                  <p:tgtEl>
                                    <p:spTgt spid="19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98" dur="480" fill="hold"/>
                                  <p:tgtEl>
                                    <p:spTgt spid="19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99" presetID="2" presetClass="entr" presetSubtype="21" fill="hold">
                            <p:stCondLst>
                              <p:cond delay="480"/>
                            </p:stCondLst>
                            <p:childTnLst>
                              <p:set>
                                <p:cBhvr>
                                  <p:cTn id="100" dur="1" fill="hold"/>
                                  <p:tgtEl>
                                    <p:spTgt spid="1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1" dur="480"/>
                                  <p:tgtEl>
                                    <p:spTgt spid="19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02" dur="480" fill="hold"/>
                                  <p:tgtEl>
                                    <p:spTgt spid="19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3" presetID="2" presetClass="entr" presetSubtype="21" fill="hold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04" dur="1" fill="hold"/>
                                  <p:tgtEl>
                                    <p:spTgt spid="1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5" dur="480"/>
                                  <p:tgtEl>
                                    <p:spTgt spid="19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06" dur="480" fill="hold"/>
                                  <p:tgtEl>
                                    <p:spTgt spid="19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07" presetID="2" presetClass="entr" presetSubtype="21" fill="hold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08" dur="1" fill="hold"/>
                                  <p:tgtEl>
                                    <p:spTgt spid="1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9" dur="480"/>
                                  <p:tgtEl>
                                    <p:spTgt spid="19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10" dur="480" fill="hold"/>
                                  <p:tgtEl>
                                    <p:spTgt spid="19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1" presetID="2" presetClass="entr" presetSubtype="21" fill="hold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12" dur="1" fill="hold"/>
                                  <p:tgtEl>
                                    <p:spTgt spid="1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13" dur="480"/>
                                  <p:tgtEl>
                                    <p:spTgt spid="19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14" dur="480" fill="hold"/>
                                  <p:tgtEl>
                                    <p:spTgt spid="194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5" presetID="2" presetClass="entr" presetSubtype="21" fill="hold">
                            <p:stCondLst>
                              <p:cond delay="560"/>
                            </p:stCondLst>
                            <p:childTnLst>
                              <p:set>
                                <p:cBhvr>
                                  <p:cTn id="116" dur="1" fill="hold"/>
                                  <p:tgtEl>
                                    <p:spTgt spid="1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17" dur="480"/>
                                  <p:tgtEl>
                                    <p:spTgt spid="19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18" dur="480" fill="hold"/>
                                  <p:tgtEl>
                                    <p:spTgt spid="19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19" presetID="2" presetClass="entr" presetSubtype="21" fill="hold">
                            <p:stCondLst>
                              <p:cond delay="620"/>
                            </p:stCondLst>
                            <p:childTnLst>
                              <p:set>
                                <p:cBhvr>
                                  <p:cTn id="120" dur="1" fill="hold"/>
                                  <p:tgtEl>
                                    <p:spTgt spid="1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21" dur="480"/>
                                  <p:tgtEl>
                                    <p:spTgt spid="19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22" dur="480" fill="hold"/>
                                  <p:tgtEl>
                                    <p:spTgt spid="196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3" presetID="2" presetClass="entr" presetSubtype="21" fill="hold">
                            <p:stCondLst>
                              <p:cond delay="620"/>
                            </p:stCondLst>
                            <p:childTnLst>
                              <p:set>
                                <p:cBhvr>
                                  <p:cTn id="124" dur="1" fill="hold"/>
                                  <p:tgtEl>
                                    <p:spTgt spid="19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25" dur="480"/>
                                  <p:tgtEl>
                                    <p:spTgt spid="19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26" dur="480" fill="hold"/>
                                  <p:tgtEl>
                                    <p:spTgt spid="19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27" presetID="2" presetClass="entr" presetSubtype="21" fill="hold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28" dur="1" fill="hold"/>
                                  <p:tgtEl>
                                    <p:spTgt spid="19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29" dur="480"/>
                                  <p:tgtEl>
                                    <p:spTgt spid="19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30" dur="480" fill="hold"/>
                                  <p:tgtEl>
                                    <p:spTgt spid="19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1" presetID="2" presetClass="entr" presetSubtype="21" fill="hold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2" dur="1" fill="hold"/>
                                  <p:tgtEl>
                                    <p:spTgt spid="19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33" dur="480"/>
                                  <p:tgtEl>
                                    <p:spTgt spid="19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34" dur="480" fill="hold"/>
                                  <p:tgtEl>
                                    <p:spTgt spid="19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5" presetID="2" presetClass="entr" presetSubtype="21" fill="hold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6" dur="1" fill="hold"/>
                                  <p:tgtEl>
                                    <p:spTgt spid="20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37" dur="480"/>
                                  <p:tgtEl>
                                    <p:spTgt spid="20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38" dur="480" fill="hold"/>
                                  <p:tgtEl>
                                    <p:spTgt spid="20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39" presetID="2" presetClass="entr" presetSubtype="21" fill="hold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40" dur="1" fill="hold"/>
                                  <p:tgtEl>
                                    <p:spTgt spid="20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41" dur="480"/>
                                  <p:tgtEl>
                                    <p:spTgt spid="20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42" dur="480" fill="hold"/>
                                  <p:tgtEl>
                                    <p:spTgt spid="201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3" presetID="2" presetClass="entr" presetSubtype="21" fill="hold">
                            <p:stCondLst>
                              <p:cond delay="760"/>
                            </p:stCondLst>
                            <p:childTnLst>
                              <p:set>
                                <p:cBhvr>
                                  <p:cTn id="144" dur="1" fill="hold"/>
                                  <p:tgtEl>
                                    <p:spTgt spid="20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45" dur="480"/>
                                  <p:tgtEl>
                                    <p:spTgt spid="20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46" dur="480" fill="hold"/>
                                  <p:tgtEl>
                                    <p:spTgt spid="202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  <p:par>
                          <p:cTn id="147" presetID="2" presetClass="entr" presetSubtype="21" fill="hold">
                            <p:stCondLst>
                              <p:cond delay="760"/>
                            </p:stCondLst>
                            <p:childTnLst>
                              <p:set>
                                <p:cBhvr>
                                  <p:cTn id="148" dur="1" fill="hold"/>
                                  <p:tgtEl>
                                    <p:spTgt spid="20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49" dur="480"/>
                                  <p:tgtEl>
                                    <p:spTgt spid="20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1.15"/>
                                    </p:val>
                                  </p:tav>
                                  <p:tav tm="100000">
                                    <p:val>
                                      <p:strVal val="0"/>
                                    </p:val>
                                  </p:tav>
                                </p:tavLst>
                              </p:anim>
                              <p:anim calcmode="lin" valueType="str">
                                <p:cBhvr additive="repl">
                                  <p:cTn id="150" dur="480" fill="hold"/>
                                  <p:tgtEl>
                                    <p:spTgt spid="203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1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151" fill="hold">
                <p:stCondLst>
                  <p:cond evt="onClick" delay="0">
                    <p:tgtEl>
                      <p:spTgt spid="168"/>
                    </p:tgtEl>
                  </p:cond>
                </p:stCondLst>
                <p:childTnLst>
                  <p:par>
                    <p:cTn id="152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53" dur="400" fill="hold"/>
                            <p:tgtEl>
                              <p:spTgt spid="168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1A3A8F"/>
                          </p:to>
                        </p:animClr>
                        <p:animScale>
                          <p:cBhvr>
                            <p:cTn id="154" dur="400" fill="hold"/>
                            <p:tgtEl>
                              <p:spTgt spid="170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55" fill="hold">
                <p:stCondLst>
                  <p:cond evt="onClick" delay="0">
                    <p:tgtEl>
                      <p:spTgt spid="174"/>
                    </p:tgtEl>
                  </p:cond>
                </p:stCondLst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57" dur="400" fill="hold"/>
                            <p:tgtEl>
                              <p:spTgt spid="174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6D28D9"/>
                          </p:to>
                        </p:animClr>
                        <p:animScale>
                          <p:cBhvr>
                            <p:cTn id="158" dur="400" fill="hold"/>
                            <p:tgtEl>
                              <p:spTgt spid="176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59" fill="hold">
                <p:stCondLst>
                  <p:cond evt="onClick" delay="0">
                    <p:tgtEl>
                      <p:spTgt spid="180"/>
                    </p:tgtEl>
                  </p:cond>
                </p:stCondLst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61" dur="400" fill="hold"/>
                            <p:tgtEl>
                              <p:spTgt spid="180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0D6E3C"/>
                          </p:to>
                        </p:animClr>
                        <p:animScale>
                          <p:cBhvr>
                            <p:cTn id="162" dur="400" fill="hold"/>
                            <p:tgtEl>
                              <p:spTgt spid="182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63" fill="hold">
                <p:stCondLst>
                  <p:cond evt="onClick" delay="0">
                    <p:tgtEl>
                      <p:spTgt spid="186"/>
                    </p:tgtEl>
                  </p:cond>
                </p:stCondLst>
                <p:childTnLst>
                  <p:par>
                    <p:cTn id="164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65" dur="400" fill="hold"/>
                            <p:tgtEl>
                              <p:spTgt spid="186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8A3A1A"/>
                          </p:to>
                        </p:animClr>
                        <p:animScale>
                          <p:cBhvr>
                            <p:cTn id="166" dur="400" fill="hold"/>
                            <p:tgtEl>
                              <p:spTgt spid="188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67" fill="hold">
                <p:stCondLst>
                  <p:cond evt="onClick" delay="0">
                    <p:tgtEl>
                      <p:spTgt spid="192"/>
                    </p:tgtEl>
                  </p:cond>
                </p:stCondLst>
                <p:childTnLst>
                  <p:par>
                    <p:cTn id="168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69" dur="400" fill="hold"/>
                            <p:tgtEl>
                              <p:spTgt spid="192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2E7D8A"/>
                          </p:to>
                        </p:animClr>
                        <p:animScale>
                          <p:cBhvr>
                            <p:cTn id="170" dur="400" fill="hold"/>
                            <p:tgtEl>
                              <p:spTgt spid="194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  <p:par>
              <p:cTn id="171" fill="hold">
                <p:stCondLst>
                  <p:cond evt="onClick" delay="0">
                    <p:tgtEl>
                      <p:spTgt spid="198"/>
                    </p:tgtEl>
                  </p:cond>
                </p:stCondLst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animClr clrSpc="rgb" dir="cw">
                          <p:cBhvr>
                            <p:cTn id="173" dur="400" fill="hold"/>
                            <p:tgtEl>
                              <p:spTgt spid="198"/>
                            </p:tgtEl>
                            <p:attrNameLst>
                              <p:attrName>fillcolor</p:attrName>
                            </p:attrNameLst>
                          </p:cBhvr>
                          <p:to>
                            <a:srgbClr val="5E35B1"/>
                          </p:to>
                        </p:animClr>
                        <p:animScale>
                          <p:cBhvr>
                            <p:cTn id="174" dur="400" fill="hold"/>
                            <p:tgtEl>
                              <p:spTgt spid="200"/>
                            </p:tgtEl>
                          </p:cBhvr>
                          <p:by x="125000" y="125000"/>
                        </p:animScale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8" name="CustomShape 3"/>
          <p:cNvSpPr/>
          <p:nvPr/>
        </p:nvSpPr>
        <p:spPr>
          <a:xfrm>
            <a:off x="6903720" y="146160"/>
            <a:ext cx="1965240" cy="45648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4"/>
          <p:cNvSpPr/>
          <p:nvPr/>
        </p:nvSpPr>
        <p:spPr>
          <a:xfrm>
            <a:off x="6903720" y="146160"/>
            <a:ext cx="196524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DejaVu Sans"/>
              </a:rPr>
              <a:t>Week 2 - Live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10" name="CustomShape 5"/>
          <p:cNvSpPr/>
          <p:nvPr/>
        </p:nvSpPr>
        <p:spPr>
          <a:xfrm>
            <a:off x="365760" y="0"/>
            <a:ext cx="64000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FFFFF"/>
                </a:solidFill>
                <a:latin typeface="Arial"/>
                <a:ea typeface="Arial"/>
              </a:rPr>
              <a:t>Week 2 Progress - What's Shipped</a:t>
            </a:r>
            <a:endParaRPr lang="en-US" sz="2200" b="0" strike="noStrike" spc="-1">
              <a:latin typeface="Arial"/>
            </a:endParaRPr>
          </a:p>
        </p:txBody>
      </p:sp>
      <p:sp>
        <p:nvSpPr>
          <p:cNvPr id="211" name="CustomShape 6"/>
          <p:cNvSpPr/>
          <p:nvPr/>
        </p:nvSpPr>
        <p:spPr>
          <a:xfrm>
            <a:off x="274320" y="841320"/>
            <a:ext cx="5348520" cy="391284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7"/>
          <p:cNvSpPr/>
          <p:nvPr/>
        </p:nvSpPr>
        <p:spPr>
          <a:xfrm>
            <a:off x="365760" y="877680"/>
            <a:ext cx="5165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6D28D9"/>
                </a:solidFill>
                <a:latin typeface="Arial"/>
                <a:ea typeface="Arial"/>
              </a:rPr>
              <a:t>Completed This Week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13" name="CustomShape 8"/>
          <p:cNvSpPr/>
          <p:nvPr/>
        </p:nvSpPr>
        <p:spPr>
          <a:xfrm>
            <a:off x="384120" y="125280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9"/>
          <p:cNvSpPr/>
          <p:nvPr/>
        </p:nvSpPr>
        <p:spPr>
          <a:xfrm>
            <a:off x="384120" y="125280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15" name="CustomShape 10"/>
          <p:cNvSpPr/>
          <p:nvPr/>
        </p:nvSpPr>
        <p:spPr>
          <a:xfrm>
            <a:off x="685800" y="125280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Next.js setup, Redux store, routing, Navbar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16" name="CustomShape 11"/>
          <p:cNvSpPr/>
          <p:nvPr/>
        </p:nvSpPr>
        <p:spPr>
          <a:xfrm>
            <a:off x="384120" y="156816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7" name="CustomShape 12"/>
          <p:cNvSpPr/>
          <p:nvPr/>
        </p:nvSpPr>
        <p:spPr>
          <a:xfrm>
            <a:off x="384120" y="156816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18" name="CustomShape 13"/>
          <p:cNvSpPr/>
          <p:nvPr/>
        </p:nvSpPr>
        <p:spPr>
          <a:xfrm>
            <a:off x="685800" y="156816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File System Access API - local folder indexing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19" name="CustomShape 14"/>
          <p:cNvSpPr/>
          <p:nvPr/>
        </p:nvSpPr>
        <p:spPr>
          <a:xfrm>
            <a:off x="384120" y="188352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0" name="CustomShape 15"/>
          <p:cNvSpPr/>
          <p:nvPr/>
        </p:nvSpPr>
        <p:spPr>
          <a:xfrm>
            <a:off x="384120" y="188352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21" name="CustomShape 16"/>
          <p:cNvSpPr/>
          <p:nvPr/>
        </p:nvSpPr>
        <p:spPr>
          <a:xfrm>
            <a:off x="685800" y="188352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Groq /api/chat integration (LLaMA 3.3-70B)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2" name="CustomShape 17"/>
          <p:cNvSpPr/>
          <p:nvPr/>
        </p:nvSpPr>
        <p:spPr>
          <a:xfrm>
            <a:off x="384120" y="219924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3" name="CustomShape 18"/>
          <p:cNvSpPr/>
          <p:nvPr/>
        </p:nvSpPr>
        <p:spPr>
          <a:xfrm>
            <a:off x="384120" y="219924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24" name="CustomShape 19"/>
          <p:cNvSpPr/>
          <p:nvPr/>
        </p:nvSpPr>
        <p:spPr>
          <a:xfrm>
            <a:off x="685800" y="219924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Mermaid diagram rendering (flowchart / sequence)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5" name="CustomShape 20"/>
          <p:cNvSpPr/>
          <p:nvPr/>
        </p:nvSpPr>
        <p:spPr>
          <a:xfrm>
            <a:off x="384120" y="251460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21"/>
          <p:cNvSpPr/>
          <p:nvPr/>
        </p:nvSpPr>
        <p:spPr>
          <a:xfrm>
            <a:off x="384120" y="251460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27" name="CustomShape 22"/>
          <p:cNvSpPr/>
          <p:nvPr/>
        </p:nvSpPr>
        <p:spPr>
          <a:xfrm>
            <a:off x="685800" y="251460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Syntax-highlighted code blocks in responses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28" name="CustomShape 23"/>
          <p:cNvSpPr/>
          <p:nvPr/>
        </p:nvSpPr>
        <p:spPr>
          <a:xfrm>
            <a:off x="384120" y="282996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9" name="CustomShape 24"/>
          <p:cNvSpPr/>
          <p:nvPr/>
        </p:nvSpPr>
        <p:spPr>
          <a:xfrm>
            <a:off x="384120" y="282996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30" name="CustomShape 25"/>
          <p:cNvSpPr/>
          <p:nvPr/>
        </p:nvSpPr>
        <p:spPr>
          <a:xfrm>
            <a:off x="685800" y="282996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File citation with file:line references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31" name="CustomShape 26"/>
          <p:cNvSpPr/>
          <p:nvPr/>
        </p:nvSpPr>
        <p:spPr>
          <a:xfrm>
            <a:off x="384120" y="314568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2" name="CustomShape 27"/>
          <p:cNvSpPr/>
          <p:nvPr/>
        </p:nvSpPr>
        <p:spPr>
          <a:xfrm>
            <a:off x="384120" y="314568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33" name="CustomShape 28"/>
          <p:cNvSpPr/>
          <p:nvPr/>
        </p:nvSpPr>
        <p:spPr>
          <a:xfrm>
            <a:off x="685800" y="314568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Chat history sidebar + redux-persist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34" name="CustomShape 29"/>
          <p:cNvSpPr/>
          <p:nvPr/>
        </p:nvSpPr>
        <p:spPr>
          <a:xfrm>
            <a:off x="384120" y="346104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5" name="CustomShape 30"/>
          <p:cNvSpPr/>
          <p:nvPr/>
        </p:nvSpPr>
        <p:spPr>
          <a:xfrm>
            <a:off x="384120" y="346104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36" name="CustomShape 31"/>
          <p:cNvSpPr/>
          <p:nvPr/>
        </p:nvSpPr>
        <p:spPr>
          <a:xfrm>
            <a:off x="685800" y="346104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Recent Repositories cards on homepage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37" name="CustomShape 32"/>
          <p:cNvSpPr/>
          <p:nvPr/>
        </p:nvSpPr>
        <p:spPr>
          <a:xfrm>
            <a:off x="384120" y="377640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8" name="CustomShape 33"/>
          <p:cNvSpPr/>
          <p:nvPr/>
        </p:nvSpPr>
        <p:spPr>
          <a:xfrm>
            <a:off x="384120" y="377640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39" name="CustomShape 34"/>
          <p:cNvSpPr/>
          <p:nvPr/>
        </p:nvSpPr>
        <p:spPr>
          <a:xfrm>
            <a:off x="685800" y="377640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GitHub URL indexing via /api/github-index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40" name="CustomShape 35"/>
          <p:cNvSpPr/>
          <p:nvPr/>
        </p:nvSpPr>
        <p:spPr>
          <a:xfrm>
            <a:off x="384120" y="409212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1" name="CustomShape 36"/>
          <p:cNvSpPr/>
          <p:nvPr/>
        </p:nvSpPr>
        <p:spPr>
          <a:xfrm>
            <a:off x="384120" y="409212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42" name="CustomShape 37"/>
          <p:cNvSpPr/>
          <p:nvPr/>
        </p:nvSpPr>
        <p:spPr>
          <a:xfrm>
            <a:off x="685800" y="409212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Export chat answers as .docx Word file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43" name="CustomShape 38"/>
          <p:cNvSpPr/>
          <p:nvPr/>
        </p:nvSpPr>
        <p:spPr>
          <a:xfrm>
            <a:off x="384120" y="4407480"/>
            <a:ext cx="236880" cy="236880"/>
          </a:xfrm>
          <a:prstGeom prst="roundRect">
            <a:avLst>
              <a:gd name="adj" fmla="val 15385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4" name="CustomShape 39"/>
          <p:cNvSpPr/>
          <p:nvPr/>
        </p:nvSpPr>
        <p:spPr>
          <a:xfrm>
            <a:off x="384120" y="4407480"/>
            <a:ext cx="236880" cy="236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V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245" name="CustomShape 40"/>
          <p:cNvSpPr/>
          <p:nvPr/>
        </p:nvSpPr>
        <p:spPr>
          <a:xfrm>
            <a:off x="685800" y="4407480"/>
            <a:ext cx="484560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1A1035"/>
                </a:solidFill>
                <a:latin typeface="Calibri"/>
                <a:ea typeface="Calibri"/>
              </a:rPr>
              <a:t>Deployed to Vercel (live production URL)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46" name="CustomShape 41"/>
          <p:cNvSpPr/>
          <p:nvPr/>
        </p:nvSpPr>
        <p:spPr>
          <a:xfrm>
            <a:off x="5806440" y="841320"/>
            <a:ext cx="3062520" cy="1901880"/>
          </a:xfrm>
          <a:prstGeom prst="rect">
            <a:avLst/>
          </a:prstGeom>
          <a:solidFill>
            <a:srgbClr val="0D104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7" name="CustomShape 42"/>
          <p:cNvSpPr/>
          <p:nvPr/>
        </p:nvSpPr>
        <p:spPr>
          <a:xfrm>
            <a:off x="5897880" y="896040"/>
            <a:ext cx="28796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A78BFA"/>
                </a:solidFill>
                <a:latin typeface="Arial"/>
                <a:ea typeface="Arial"/>
              </a:rPr>
              <a:t>Live on Vercel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48" name="CustomShape 43"/>
          <p:cNvSpPr/>
          <p:nvPr/>
        </p:nvSpPr>
        <p:spPr>
          <a:xfrm>
            <a:off x="5897880" y="1280160"/>
            <a:ext cx="2879640" cy="731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RepoBrainAI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Production deployed via Vercel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Auto CI/CD on git push </a:t>
            </a: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05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CADCFC"/>
                </a:solidFill>
                <a:latin typeface="Calibri"/>
                <a:ea typeface="Calibri"/>
              </a:rPr>
              <a:t>Production: </a:t>
            </a:r>
            <a:r>
              <a:rPr lang="en-US" sz="900" b="1" strike="noStrike" spc="-1">
                <a:solidFill>
                  <a:srgbClr val="FF0000"/>
                </a:solidFill>
                <a:latin typeface="Calibri"/>
                <a:ea typeface="Calibri"/>
                <a:hlinkClick r:id="rId3"/>
              </a:rPr>
              <a:t>Web Link</a:t>
            </a:r>
            <a:r>
              <a:rPr lang="en-US" sz="900" b="0" strike="noStrike" spc="-1">
                <a:solidFill>
                  <a:srgbClr val="224B12"/>
                </a:solidFill>
                <a:latin typeface="Calibri"/>
                <a:ea typeface="Calibri"/>
              </a:rPr>
              <a:t> 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49" name="CustomShape 44"/>
          <p:cNvSpPr/>
          <p:nvPr/>
        </p:nvSpPr>
        <p:spPr>
          <a:xfrm>
            <a:off x="5806440" y="2651760"/>
            <a:ext cx="95940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45"/>
          <p:cNvSpPr/>
          <p:nvPr/>
        </p:nvSpPr>
        <p:spPr>
          <a:xfrm>
            <a:off x="6830640" y="2651760"/>
            <a:ext cx="95940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6"/>
          <p:cNvSpPr/>
          <p:nvPr/>
        </p:nvSpPr>
        <p:spPr>
          <a:xfrm>
            <a:off x="6830640" y="3090600"/>
            <a:ext cx="959400" cy="438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2" name="CustomShape 47"/>
          <p:cNvSpPr/>
          <p:nvPr/>
        </p:nvSpPr>
        <p:spPr>
          <a:xfrm>
            <a:off x="7854840" y="2651760"/>
            <a:ext cx="95940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3" name="CustomShape 48"/>
          <p:cNvSpPr/>
          <p:nvPr/>
        </p:nvSpPr>
        <p:spPr>
          <a:xfrm>
            <a:off x="5807160" y="2926080"/>
            <a:ext cx="3062520" cy="1645920"/>
          </a:xfrm>
          <a:prstGeom prst="rect">
            <a:avLst/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4" name="CustomShape 49"/>
          <p:cNvSpPr/>
          <p:nvPr/>
        </p:nvSpPr>
        <p:spPr>
          <a:xfrm>
            <a:off x="5806440" y="2743200"/>
            <a:ext cx="2971080" cy="1288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A78BFA"/>
                </a:solidFill>
                <a:latin typeface="Calibri"/>
                <a:ea typeface="DejaVu Sans"/>
              </a:rPr>
              <a:t>  UI Highlights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255" name="CustomShape 50"/>
          <p:cNvSpPr/>
          <p:nvPr/>
        </p:nvSpPr>
        <p:spPr>
          <a:xfrm>
            <a:off x="5852160" y="2834640"/>
            <a:ext cx="2925360" cy="1873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- Dark theme with purple accent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- Local Folder / GitHub URL tab switcher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CADCFC"/>
                </a:solidFill>
                <a:latin typeface="Calibri"/>
                <a:ea typeface="Calibri"/>
              </a:rPr>
              <a:t>- Indexed repo cards with file count badge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56" name="CustomShape 51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7" name="CustomShape 52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Week 2 Progress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59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0" name="CustomShape 3"/>
          <p:cNvSpPr/>
          <p:nvPr/>
        </p:nvSpPr>
        <p:spPr>
          <a:xfrm>
            <a:off x="6903720" y="146160"/>
            <a:ext cx="1965240" cy="45648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1" name="CustomShape 4"/>
          <p:cNvSpPr/>
          <p:nvPr/>
        </p:nvSpPr>
        <p:spPr>
          <a:xfrm>
            <a:off x="6903720" y="146160"/>
            <a:ext cx="1965240" cy="45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0D1040"/>
                </a:solidFill>
                <a:latin typeface="Calibri"/>
                <a:ea typeface="DejaVu Sans"/>
              </a:rPr>
              <a:t>Week 3 - Planned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2" name="CustomShape 5"/>
          <p:cNvSpPr/>
          <p:nvPr/>
        </p:nvSpPr>
        <p:spPr>
          <a:xfrm>
            <a:off x="365760" y="0"/>
            <a:ext cx="64000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FFFFFF"/>
                </a:solidFill>
                <a:latin typeface="Arial"/>
                <a:ea typeface="Arial"/>
              </a:rPr>
              <a:t>Week 3 Roadmap - Configurable LLM Provider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263" name="CustomShape 6"/>
          <p:cNvSpPr/>
          <p:nvPr/>
        </p:nvSpPr>
        <p:spPr>
          <a:xfrm>
            <a:off x="274320" y="841320"/>
            <a:ext cx="8594640" cy="566280"/>
          </a:xfrm>
          <a:prstGeom prst="rect">
            <a:avLst/>
          </a:prstGeom>
          <a:solidFill>
            <a:srgbClr val="0D104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7"/>
          <p:cNvSpPr/>
          <p:nvPr/>
        </p:nvSpPr>
        <p:spPr>
          <a:xfrm>
            <a:off x="411480" y="841320"/>
            <a:ext cx="8411760" cy="56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strike="noStrike" spc="-1">
                <a:solidFill>
                  <a:srgbClr val="A78BFA"/>
                </a:solidFill>
                <a:latin typeface="Calibri"/>
                <a:ea typeface="Calibri"/>
              </a:rPr>
              <a:t>Goal:  Let users choose their preferred LLM provider from a settings panel - no code changes required.</a:t>
            </a:r>
            <a:endParaRPr lang="en-US" sz="1250" b="0" strike="noStrike" spc="-1">
              <a:latin typeface="Arial"/>
            </a:endParaRPr>
          </a:p>
        </p:txBody>
      </p:sp>
      <p:sp>
        <p:nvSpPr>
          <p:cNvPr id="265" name="CustomShape 8"/>
          <p:cNvSpPr/>
          <p:nvPr/>
        </p:nvSpPr>
        <p:spPr>
          <a:xfrm>
            <a:off x="228600" y="1536120"/>
            <a:ext cx="2056680" cy="26967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9"/>
          <p:cNvSpPr/>
          <p:nvPr/>
        </p:nvSpPr>
        <p:spPr>
          <a:xfrm>
            <a:off x="228600" y="1536120"/>
            <a:ext cx="2056680" cy="529560"/>
          </a:xfrm>
          <a:prstGeom prst="rect">
            <a:avLst/>
          </a:prstGeom>
          <a:solidFill>
            <a:srgbClr val="1B5E20"/>
          </a:solidFill>
          <a:ln w="12600">
            <a:solidFill>
              <a:srgbClr val="1B5E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10"/>
          <p:cNvSpPr/>
          <p:nvPr/>
        </p:nvSpPr>
        <p:spPr>
          <a:xfrm>
            <a:off x="228600" y="1536120"/>
            <a:ext cx="205668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Groq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(LLaMA 3.3-70B)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8" name="CustomShape 11"/>
          <p:cNvSpPr/>
          <p:nvPr/>
        </p:nvSpPr>
        <p:spPr>
          <a:xfrm>
            <a:off x="320040" y="21214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B5E20"/>
                </a:solidFill>
                <a:latin typeface="Calibri"/>
                <a:ea typeface="Calibri"/>
              </a:rPr>
              <a:t>Current Default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9" name="CustomShape 12"/>
          <p:cNvSpPr/>
          <p:nvPr/>
        </p:nvSpPr>
        <p:spPr>
          <a:xfrm>
            <a:off x="320040" y="2487240"/>
            <a:ext cx="1873800" cy="80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Ultra-fast inference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Free tier available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Best for speed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70" name="CustomShape 13"/>
          <p:cNvSpPr/>
          <p:nvPr/>
        </p:nvSpPr>
        <p:spPr>
          <a:xfrm>
            <a:off x="685800" y="3364920"/>
            <a:ext cx="1142280" cy="310320"/>
          </a:xfrm>
          <a:prstGeom prst="roundRect">
            <a:avLst>
              <a:gd name="adj" fmla="val 1764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1" name="CustomShape 14"/>
          <p:cNvSpPr/>
          <p:nvPr/>
        </p:nvSpPr>
        <p:spPr>
          <a:xfrm>
            <a:off x="685800" y="3364920"/>
            <a:ext cx="1142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DejaVu Sans"/>
              </a:rPr>
              <a:t>LIVE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72" name="CustomShape 15"/>
          <p:cNvSpPr/>
          <p:nvPr/>
        </p:nvSpPr>
        <p:spPr>
          <a:xfrm>
            <a:off x="2441520" y="1536120"/>
            <a:ext cx="2056680" cy="26967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3" name="CustomShape 16"/>
          <p:cNvSpPr/>
          <p:nvPr/>
        </p:nvSpPr>
        <p:spPr>
          <a:xfrm>
            <a:off x="2441520" y="1536120"/>
            <a:ext cx="2056680" cy="529560"/>
          </a:xfrm>
          <a:prstGeom prst="rect">
            <a:avLst/>
          </a:prstGeom>
          <a:solidFill>
            <a:srgbClr val="1A3A8F"/>
          </a:solidFill>
          <a:ln w="12600">
            <a:solidFill>
              <a:srgbClr val="1A3A8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4" name="CustomShape 17"/>
          <p:cNvSpPr/>
          <p:nvPr/>
        </p:nvSpPr>
        <p:spPr>
          <a:xfrm>
            <a:off x="2441520" y="1536120"/>
            <a:ext cx="205668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OpenAI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(GPT-4o / GPT-4)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75" name="CustomShape 18"/>
          <p:cNvSpPr/>
          <p:nvPr/>
        </p:nvSpPr>
        <p:spPr>
          <a:xfrm>
            <a:off x="2532960" y="21214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A3A8F"/>
                </a:solidFill>
                <a:latin typeface="Calibri"/>
                <a:ea typeface="Calibri"/>
              </a:rPr>
              <a:t>Week 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76" name="CustomShape 19"/>
          <p:cNvSpPr/>
          <p:nvPr/>
        </p:nvSpPr>
        <p:spPr>
          <a:xfrm>
            <a:off x="2532960" y="2487240"/>
            <a:ext cx="1873800" cy="80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Industry standard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Best reasoning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openai.com API key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77" name="CustomShape 20"/>
          <p:cNvSpPr/>
          <p:nvPr/>
        </p:nvSpPr>
        <p:spPr>
          <a:xfrm>
            <a:off x="2898720" y="3364920"/>
            <a:ext cx="1142280" cy="31032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8" name="CustomShape 21"/>
          <p:cNvSpPr/>
          <p:nvPr/>
        </p:nvSpPr>
        <p:spPr>
          <a:xfrm>
            <a:off x="2898720" y="3364920"/>
            <a:ext cx="1142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040"/>
                </a:solidFill>
                <a:latin typeface="Calibri"/>
                <a:ea typeface="DejaVu Sans"/>
              </a:rPr>
              <a:t>NEXT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79" name="CustomShape 22"/>
          <p:cNvSpPr/>
          <p:nvPr/>
        </p:nvSpPr>
        <p:spPr>
          <a:xfrm>
            <a:off x="4654440" y="1536120"/>
            <a:ext cx="2056680" cy="26967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0" name="CustomShape 23"/>
          <p:cNvSpPr/>
          <p:nvPr/>
        </p:nvSpPr>
        <p:spPr>
          <a:xfrm>
            <a:off x="4654440" y="1536120"/>
            <a:ext cx="2056680" cy="529560"/>
          </a:xfrm>
          <a:prstGeom prst="rect">
            <a:avLst/>
          </a:prstGeom>
          <a:solidFill>
            <a:srgbClr val="6D3A1A"/>
          </a:solidFill>
          <a:ln w="12600">
            <a:solidFill>
              <a:srgbClr val="6D3A1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1" name="CustomShape 24"/>
          <p:cNvSpPr/>
          <p:nvPr/>
        </p:nvSpPr>
        <p:spPr>
          <a:xfrm>
            <a:off x="4654440" y="1536120"/>
            <a:ext cx="205668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Anthropic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(Claude 3.5)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82" name="CustomShape 25"/>
          <p:cNvSpPr/>
          <p:nvPr/>
        </p:nvSpPr>
        <p:spPr>
          <a:xfrm>
            <a:off x="4745880" y="21214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6D3A1A"/>
                </a:solidFill>
                <a:latin typeface="Calibri"/>
                <a:ea typeface="Calibri"/>
              </a:rPr>
              <a:t>Week 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3" name="CustomShape 26"/>
          <p:cNvSpPr/>
          <p:nvPr/>
        </p:nvSpPr>
        <p:spPr>
          <a:xfrm>
            <a:off x="4745880" y="2487240"/>
            <a:ext cx="1873800" cy="80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Strong code analysis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Long context window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anthropic key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4" name="CustomShape 27"/>
          <p:cNvSpPr/>
          <p:nvPr/>
        </p:nvSpPr>
        <p:spPr>
          <a:xfrm>
            <a:off x="5111640" y="3364920"/>
            <a:ext cx="1142280" cy="31032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5" name="CustomShape 28"/>
          <p:cNvSpPr/>
          <p:nvPr/>
        </p:nvSpPr>
        <p:spPr>
          <a:xfrm>
            <a:off x="5111640" y="3364920"/>
            <a:ext cx="1142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040"/>
                </a:solidFill>
                <a:latin typeface="Calibri"/>
                <a:ea typeface="DejaVu Sans"/>
              </a:rPr>
              <a:t>NEXT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86" name="CustomShape 29"/>
          <p:cNvSpPr/>
          <p:nvPr/>
        </p:nvSpPr>
        <p:spPr>
          <a:xfrm>
            <a:off x="6867000" y="1536120"/>
            <a:ext cx="2056680" cy="269676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  <a:effectLst>
            <a:outerShdw dist="25455" dir="810000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7" name="CustomShape 30"/>
          <p:cNvSpPr/>
          <p:nvPr/>
        </p:nvSpPr>
        <p:spPr>
          <a:xfrm>
            <a:off x="6867000" y="1536120"/>
            <a:ext cx="2056680" cy="529560"/>
          </a:xfrm>
          <a:prstGeom prst="rect">
            <a:avLst/>
          </a:prstGeom>
          <a:solidFill>
            <a:srgbClr val="2E7D8A"/>
          </a:solidFill>
          <a:ln w="12600">
            <a:solidFill>
              <a:srgbClr val="2E7D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8" name="CustomShape 31"/>
          <p:cNvSpPr/>
          <p:nvPr/>
        </p:nvSpPr>
        <p:spPr>
          <a:xfrm>
            <a:off x="6867000" y="1536120"/>
            <a:ext cx="2056680" cy="52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Custom / Other</a:t>
            </a:r>
            <a:endParaRPr lang="en-US" sz="105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050" b="1" strike="noStrike" spc="-1">
                <a:solidFill>
                  <a:srgbClr val="FFFFFF"/>
                </a:solidFill>
                <a:latin typeface="Calibri"/>
                <a:ea typeface="DejaVu Sans"/>
              </a:rPr>
              <a:t>(Ollama)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89" name="CustomShape 32"/>
          <p:cNvSpPr/>
          <p:nvPr/>
        </p:nvSpPr>
        <p:spPr>
          <a:xfrm>
            <a:off x="6958440" y="2121480"/>
            <a:ext cx="187380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2E7D8A"/>
                </a:solidFill>
                <a:latin typeface="Calibri"/>
                <a:ea typeface="Calibri"/>
              </a:rPr>
              <a:t>Future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90" name="CustomShape 33"/>
          <p:cNvSpPr/>
          <p:nvPr/>
        </p:nvSpPr>
        <p:spPr>
          <a:xfrm>
            <a:off x="6958440" y="2487240"/>
            <a:ext cx="1873800" cy="803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Local model support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Base URL configurable</a:t>
            </a:r>
            <a:endParaRPr lang="en-US" sz="10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1A1035"/>
                </a:solidFill>
                <a:latin typeface="Calibri"/>
                <a:ea typeface="Calibri"/>
              </a:rPr>
              <a:t>Fully private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91" name="CustomShape 34"/>
          <p:cNvSpPr/>
          <p:nvPr/>
        </p:nvSpPr>
        <p:spPr>
          <a:xfrm>
            <a:off x="7324200" y="3364920"/>
            <a:ext cx="1142280" cy="310320"/>
          </a:xfrm>
          <a:prstGeom prst="roundRect">
            <a:avLst>
              <a:gd name="adj" fmla="val 17647"/>
            </a:avLst>
          </a:prstGeom>
          <a:solidFill>
            <a:srgbClr val="7A7A9A"/>
          </a:solidFill>
          <a:ln w="12600">
            <a:solidFill>
              <a:srgbClr val="7A7A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2" name="CustomShape 35"/>
          <p:cNvSpPr/>
          <p:nvPr/>
        </p:nvSpPr>
        <p:spPr>
          <a:xfrm>
            <a:off x="7324200" y="3364920"/>
            <a:ext cx="1142280" cy="310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0D1040"/>
                </a:solidFill>
                <a:latin typeface="Calibri"/>
                <a:ea typeface="DejaVu Sans"/>
              </a:rPr>
              <a:t>FUTURE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293" name="CustomShape 36"/>
          <p:cNvSpPr/>
          <p:nvPr/>
        </p:nvSpPr>
        <p:spPr>
          <a:xfrm>
            <a:off x="274320" y="4316040"/>
            <a:ext cx="8594640" cy="346680"/>
          </a:xfrm>
          <a:prstGeom prst="rect">
            <a:avLst/>
          </a:prstGeom>
          <a:solidFill>
            <a:srgbClr val="1C1450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4" name="CustomShape 37"/>
          <p:cNvSpPr/>
          <p:nvPr/>
        </p:nvSpPr>
        <p:spPr>
          <a:xfrm>
            <a:off x="411480" y="4316040"/>
            <a:ext cx="832032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A78BFA"/>
                </a:solidFill>
                <a:latin typeface="Calibri"/>
                <a:ea typeface="Calibri"/>
              </a:rPr>
              <a:t>Implementation:  Settings panel  -&gt;  Redux providerConfig slice  -&gt;  /api/chat reads provider + apiKey + model  -&gt;  SDK swap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95" name="CustomShape 38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6" name="CustomShape 39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Week 3 Roadmap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ustomShape 1"/>
          <p:cNvSpPr/>
          <p:nvPr/>
        </p:nvSpPr>
        <p:spPr>
          <a:xfrm>
            <a:off x="7223760" y="4663440"/>
            <a:ext cx="173664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C0B8E8"/>
                </a:solidFill>
                <a:latin typeface="Arial"/>
                <a:ea typeface="Arial"/>
              </a:rPr>
              <a:t>IIT PATNA</a:t>
            </a:r>
            <a:endParaRPr lang="en-US" sz="1300" b="0" strike="noStrike" spc="-1">
              <a:latin typeface="Arial"/>
            </a:endParaRPr>
          </a:p>
        </p:txBody>
      </p:sp>
      <p:sp>
        <p:nvSpPr>
          <p:cNvPr id="298" name="CustomShape 2"/>
          <p:cNvSpPr/>
          <p:nvPr/>
        </p:nvSpPr>
        <p:spPr>
          <a:xfrm>
            <a:off x="0" y="0"/>
            <a:ext cx="9143280" cy="749160"/>
          </a:xfrm>
          <a:prstGeom prst="rect">
            <a:avLst/>
          </a:prstGeom>
          <a:solidFill>
            <a:srgbClr val="0D1040"/>
          </a:solidFill>
          <a:ln w="12600">
            <a:solidFill>
              <a:srgbClr val="0D104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9" name="CustomShape 3"/>
          <p:cNvSpPr/>
          <p:nvPr/>
        </p:nvSpPr>
        <p:spPr>
          <a:xfrm>
            <a:off x="365760" y="0"/>
            <a:ext cx="8228880" cy="7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FFFFFF"/>
                </a:solidFill>
                <a:latin typeface="Arial"/>
                <a:ea typeface="Arial"/>
              </a:rPr>
              <a:t> Project Plan 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300" name="CustomShape 4"/>
          <p:cNvSpPr/>
          <p:nvPr/>
        </p:nvSpPr>
        <p:spPr>
          <a:xfrm>
            <a:off x="274320" y="868680"/>
            <a:ext cx="8594640" cy="62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1" name="CustomShape 5"/>
          <p:cNvSpPr/>
          <p:nvPr/>
        </p:nvSpPr>
        <p:spPr>
          <a:xfrm>
            <a:off x="274320" y="868680"/>
            <a:ext cx="63360" cy="621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2" name="CustomShape 6"/>
          <p:cNvSpPr/>
          <p:nvPr/>
        </p:nvSpPr>
        <p:spPr>
          <a:xfrm>
            <a:off x="411480" y="8686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0B981"/>
                </a:solidFill>
                <a:latin typeface="Arial"/>
                <a:ea typeface="Arial"/>
              </a:rPr>
              <a:t>Phase 1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03" name="CustomShape 7"/>
          <p:cNvSpPr/>
          <p:nvPr/>
        </p:nvSpPr>
        <p:spPr>
          <a:xfrm>
            <a:off x="1463040" y="8686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Foundation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04" name="CustomShape 8"/>
          <p:cNvSpPr/>
          <p:nvPr/>
        </p:nvSpPr>
        <p:spPr>
          <a:xfrm>
            <a:off x="3337560" y="8686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Next.js setup  |  Redux store  |  routing  |  Navbar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05" name="CustomShape 9"/>
          <p:cNvSpPr/>
          <p:nvPr/>
        </p:nvSpPr>
        <p:spPr>
          <a:xfrm>
            <a:off x="8183880" y="10148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6" name="CustomShape 10"/>
          <p:cNvSpPr/>
          <p:nvPr/>
        </p:nvSpPr>
        <p:spPr>
          <a:xfrm>
            <a:off x="8183880" y="10148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DONE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07" name="CustomShape 11"/>
          <p:cNvSpPr/>
          <p:nvPr/>
        </p:nvSpPr>
        <p:spPr>
          <a:xfrm>
            <a:off x="274320" y="1554480"/>
            <a:ext cx="8594640" cy="62100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8" name="CustomShape 12"/>
          <p:cNvSpPr/>
          <p:nvPr/>
        </p:nvSpPr>
        <p:spPr>
          <a:xfrm>
            <a:off x="274320" y="1554480"/>
            <a:ext cx="63360" cy="621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9" name="CustomShape 13"/>
          <p:cNvSpPr/>
          <p:nvPr/>
        </p:nvSpPr>
        <p:spPr>
          <a:xfrm>
            <a:off x="411480" y="15544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0B981"/>
                </a:solidFill>
                <a:latin typeface="Arial"/>
                <a:ea typeface="Arial"/>
              </a:rPr>
              <a:t>Phase 2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10" name="CustomShape 14"/>
          <p:cNvSpPr/>
          <p:nvPr/>
        </p:nvSpPr>
        <p:spPr>
          <a:xfrm>
            <a:off x="1463040" y="15544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Core Feature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11" name="CustomShape 15"/>
          <p:cNvSpPr/>
          <p:nvPr/>
        </p:nvSpPr>
        <p:spPr>
          <a:xfrm>
            <a:off x="3337560" y="15544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File System API  |  indexing pipeline  |  Groq chat API  |  GitHub URL indexing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12" name="CustomShape 16"/>
          <p:cNvSpPr/>
          <p:nvPr/>
        </p:nvSpPr>
        <p:spPr>
          <a:xfrm>
            <a:off x="8183880" y="17006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3" name="CustomShape 17"/>
          <p:cNvSpPr/>
          <p:nvPr/>
        </p:nvSpPr>
        <p:spPr>
          <a:xfrm>
            <a:off x="8183880" y="17006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DONE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14" name="CustomShape 18"/>
          <p:cNvSpPr/>
          <p:nvPr/>
        </p:nvSpPr>
        <p:spPr>
          <a:xfrm>
            <a:off x="274320" y="2240280"/>
            <a:ext cx="8594640" cy="62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5" name="CustomShape 19"/>
          <p:cNvSpPr/>
          <p:nvPr/>
        </p:nvSpPr>
        <p:spPr>
          <a:xfrm>
            <a:off x="274320" y="2240280"/>
            <a:ext cx="63360" cy="621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6" name="CustomShape 20"/>
          <p:cNvSpPr/>
          <p:nvPr/>
        </p:nvSpPr>
        <p:spPr>
          <a:xfrm>
            <a:off x="411480" y="22402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0B981"/>
                </a:solidFill>
                <a:latin typeface="Arial"/>
                <a:ea typeface="Arial"/>
              </a:rPr>
              <a:t>Phase 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17" name="CustomShape 21"/>
          <p:cNvSpPr/>
          <p:nvPr/>
        </p:nvSpPr>
        <p:spPr>
          <a:xfrm>
            <a:off x="1463040" y="22402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UX Polish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18" name="CustomShape 22"/>
          <p:cNvSpPr/>
          <p:nvPr/>
        </p:nvSpPr>
        <p:spPr>
          <a:xfrm>
            <a:off x="3337560" y="22402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Mermaid diagrams  |  code highlighting  |  citations  |  chat history sidebar  |  .docx export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19" name="CustomShape 23"/>
          <p:cNvSpPr/>
          <p:nvPr/>
        </p:nvSpPr>
        <p:spPr>
          <a:xfrm>
            <a:off x="8183880" y="23864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24"/>
          <p:cNvSpPr/>
          <p:nvPr/>
        </p:nvSpPr>
        <p:spPr>
          <a:xfrm>
            <a:off x="8183880" y="23864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DONE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21" name="CustomShape 25"/>
          <p:cNvSpPr/>
          <p:nvPr/>
        </p:nvSpPr>
        <p:spPr>
          <a:xfrm>
            <a:off x="274320" y="2926080"/>
            <a:ext cx="8594640" cy="62100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2" name="CustomShape 26"/>
          <p:cNvSpPr/>
          <p:nvPr/>
        </p:nvSpPr>
        <p:spPr>
          <a:xfrm>
            <a:off x="274320" y="2926080"/>
            <a:ext cx="63360" cy="621000"/>
          </a:xfrm>
          <a:prstGeom prst="rect">
            <a:avLst/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3" name="CustomShape 27"/>
          <p:cNvSpPr/>
          <p:nvPr/>
        </p:nvSpPr>
        <p:spPr>
          <a:xfrm>
            <a:off x="411480" y="29260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10B981"/>
                </a:solidFill>
                <a:latin typeface="Arial"/>
                <a:ea typeface="Arial"/>
              </a:rPr>
              <a:t>Phase 4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4" name="CustomShape 28"/>
          <p:cNvSpPr/>
          <p:nvPr/>
        </p:nvSpPr>
        <p:spPr>
          <a:xfrm>
            <a:off x="1463040" y="29260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Stability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25" name="CustomShape 29"/>
          <p:cNvSpPr/>
          <p:nvPr/>
        </p:nvSpPr>
        <p:spPr>
          <a:xfrm>
            <a:off x="3337560" y="29260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Bug fixes (stale path, empty index)  |  Vercel deployment  |  env variable security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26" name="CustomShape 30"/>
          <p:cNvSpPr/>
          <p:nvPr/>
        </p:nvSpPr>
        <p:spPr>
          <a:xfrm>
            <a:off x="8183880" y="30722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6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31"/>
          <p:cNvSpPr/>
          <p:nvPr/>
        </p:nvSpPr>
        <p:spPr>
          <a:xfrm>
            <a:off x="8183880" y="30722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DONE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28" name="CustomShape 32"/>
          <p:cNvSpPr/>
          <p:nvPr/>
        </p:nvSpPr>
        <p:spPr>
          <a:xfrm>
            <a:off x="274320" y="3611880"/>
            <a:ext cx="8594640" cy="621000"/>
          </a:xfrm>
          <a:prstGeom prst="rect">
            <a:avLst/>
          </a:prstGeom>
          <a:solidFill>
            <a:srgbClr val="FFFF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33"/>
          <p:cNvSpPr/>
          <p:nvPr/>
        </p:nvSpPr>
        <p:spPr>
          <a:xfrm>
            <a:off x="274320" y="3611880"/>
            <a:ext cx="63360" cy="621000"/>
          </a:xfrm>
          <a:prstGeom prst="rect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0" name="CustomShape 34"/>
          <p:cNvSpPr/>
          <p:nvPr/>
        </p:nvSpPr>
        <p:spPr>
          <a:xfrm>
            <a:off x="411480" y="36118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59E0B"/>
                </a:solidFill>
                <a:latin typeface="Arial"/>
                <a:ea typeface="Arial"/>
              </a:rPr>
              <a:t>Phase 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31" name="CustomShape 35"/>
          <p:cNvSpPr/>
          <p:nvPr/>
        </p:nvSpPr>
        <p:spPr>
          <a:xfrm>
            <a:off x="1463040" y="36118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LLM Configurability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32" name="CustomShape 36"/>
          <p:cNvSpPr/>
          <p:nvPr/>
        </p:nvSpPr>
        <p:spPr>
          <a:xfrm>
            <a:off x="3337560" y="36118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Multi-provider: GPT-4, Claude 3.5, Lovable, Ollama  |  settings panel  |  API key management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33" name="CustomShape 37"/>
          <p:cNvSpPr/>
          <p:nvPr/>
        </p:nvSpPr>
        <p:spPr>
          <a:xfrm>
            <a:off x="8183880" y="37580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4" name="CustomShape 38"/>
          <p:cNvSpPr/>
          <p:nvPr/>
        </p:nvSpPr>
        <p:spPr>
          <a:xfrm>
            <a:off x="8183880" y="37580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0D1040"/>
                </a:solidFill>
                <a:latin typeface="Calibri"/>
                <a:ea typeface="DejaVu Sans"/>
              </a:rPr>
              <a:t>WIP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35" name="CustomShape 39"/>
          <p:cNvSpPr/>
          <p:nvPr/>
        </p:nvSpPr>
        <p:spPr>
          <a:xfrm>
            <a:off x="274320" y="4297680"/>
            <a:ext cx="8594640" cy="621000"/>
          </a:xfrm>
          <a:prstGeom prst="rect">
            <a:avLst/>
          </a:prstGeom>
          <a:solidFill>
            <a:srgbClr val="F4F2FF"/>
          </a:solidFill>
          <a:ln w="12600">
            <a:solidFill>
              <a:srgbClr val="DDD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6" name="CustomShape 40"/>
          <p:cNvSpPr/>
          <p:nvPr/>
        </p:nvSpPr>
        <p:spPr>
          <a:xfrm>
            <a:off x="274320" y="4297680"/>
            <a:ext cx="63360" cy="621000"/>
          </a:xfrm>
          <a:prstGeom prst="rect">
            <a:avLst/>
          </a:prstGeom>
          <a:solidFill>
            <a:srgbClr val="7A7A9A"/>
          </a:solidFill>
          <a:ln w="12600">
            <a:solidFill>
              <a:srgbClr val="7A7A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7" name="CustomShape 41"/>
          <p:cNvSpPr/>
          <p:nvPr/>
        </p:nvSpPr>
        <p:spPr>
          <a:xfrm>
            <a:off x="411480" y="4297680"/>
            <a:ext cx="100512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7A7A9A"/>
                </a:solidFill>
                <a:latin typeface="Arial"/>
                <a:ea typeface="Arial"/>
              </a:rPr>
              <a:t>Phase 6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38" name="CustomShape 42"/>
          <p:cNvSpPr/>
          <p:nvPr/>
        </p:nvSpPr>
        <p:spPr>
          <a:xfrm>
            <a:off x="1463040" y="4297680"/>
            <a:ext cx="18280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1A1035"/>
                </a:solidFill>
                <a:latin typeface="Arial"/>
                <a:ea typeface="Arial"/>
              </a:rPr>
              <a:t>Scale &amp; Auth</a:t>
            </a:r>
            <a:endParaRPr lang="en-US" sz="1100" b="0" strike="noStrike" spc="-1">
              <a:latin typeface="Arial"/>
            </a:endParaRPr>
          </a:p>
        </p:txBody>
      </p:sp>
      <p:sp>
        <p:nvSpPr>
          <p:cNvPr id="339" name="CustomShape 43"/>
          <p:cNvSpPr/>
          <p:nvPr/>
        </p:nvSpPr>
        <p:spPr>
          <a:xfrm>
            <a:off x="3337560" y="4297680"/>
            <a:ext cx="4799880" cy="62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60"/>
                </a:solidFill>
                <a:latin typeface="Calibri"/>
                <a:ea typeface="Calibri"/>
              </a:rPr>
              <a:t>User auth via Supabase  |  IndexedDB for persistent file index  |  semantic search over file contents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340" name="CustomShape 44"/>
          <p:cNvSpPr/>
          <p:nvPr/>
        </p:nvSpPr>
        <p:spPr>
          <a:xfrm>
            <a:off x="8183880" y="4443840"/>
            <a:ext cx="639360" cy="328320"/>
          </a:xfrm>
          <a:prstGeom prst="roundRect">
            <a:avLst>
              <a:gd name="adj" fmla="val 16667"/>
            </a:avLst>
          </a:prstGeom>
          <a:solidFill>
            <a:srgbClr val="7A7A9A"/>
          </a:solidFill>
          <a:ln w="12600">
            <a:solidFill>
              <a:srgbClr val="7A7A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1" name="CustomShape 45"/>
          <p:cNvSpPr/>
          <p:nvPr/>
        </p:nvSpPr>
        <p:spPr>
          <a:xfrm>
            <a:off x="8183880" y="4443840"/>
            <a:ext cx="639360" cy="32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00" b="1" strike="noStrike" spc="-1">
                <a:solidFill>
                  <a:srgbClr val="FFFFFF"/>
                </a:solidFill>
                <a:latin typeface="Calibri"/>
                <a:ea typeface="DejaVu Sans"/>
              </a:rPr>
              <a:t>SOON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342" name="CustomShape 46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3" name="CustomShape 47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Project Roadmap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CustomShape 1"/>
          <p:cNvSpPr/>
          <p:nvPr/>
        </p:nvSpPr>
        <p:spPr>
          <a:xfrm>
            <a:off x="0" y="0"/>
            <a:ext cx="9143280" cy="9072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5" name="CustomShape 2"/>
          <p:cNvSpPr/>
          <p:nvPr/>
        </p:nvSpPr>
        <p:spPr>
          <a:xfrm>
            <a:off x="0" y="5047560"/>
            <a:ext cx="9143280" cy="90720"/>
          </a:xfrm>
          <a:prstGeom prst="rect">
            <a:avLst/>
          </a:prstGeom>
          <a:solidFill>
            <a:srgbClr val="6D28D9"/>
          </a:solidFill>
          <a:ln w="12600">
            <a:solidFill>
              <a:srgbClr val="6D28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46" name="Image 0" descr="preencoded.png"/>
          <p:cNvPicPr/>
          <p:nvPr/>
        </p:nvPicPr>
        <p:blipFill>
          <a:blip r:embed="rId3"/>
          <a:stretch/>
        </p:blipFill>
        <p:spPr>
          <a:xfrm>
            <a:off x="183240" y="274320"/>
            <a:ext cx="822240" cy="822240"/>
          </a:xfrm>
          <a:prstGeom prst="rect">
            <a:avLst/>
          </a:prstGeom>
          <a:ln>
            <a:noFill/>
          </a:ln>
        </p:spPr>
      </p:pic>
      <p:sp>
        <p:nvSpPr>
          <p:cNvPr id="347" name="CustomShape 3"/>
          <p:cNvSpPr/>
          <p:nvPr/>
        </p:nvSpPr>
        <p:spPr>
          <a:xfrm>
            <a:off x="1234440" y="255960"/>
            <a:ext cx="2559600" cy="419760"/>
          </a:xfrm>
          <a:prstGeom prst="roundRect">
            <a:avLst>
              <a:gd name="adj" fmla="val 15217"/>
            </a:avLst>
          </a:prstGeom>
          <a:solidFill>
            <a:srgbClr val="6D28D9"/>
          </a:solidFill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8" name="CustomShape 4"/>
          <p:cNvSpPr/>
          <p:nvPr/>
        </p:nvSpPr>
        <p:spPr>
          <a:xfrm>
            <a:off x="1234440" y="255960"/>
            <a:ext cx="2559600" cy="41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1" strike="noStrike" spc="-1">
                <a:solidFill>
                  <a:srgbClr val="FFFFFF"/>
                </a:solidFill>
                <a:latin typeface="Calibri"/>
                <a:ea typeface="DejaVu Sans"/>
              </a:rPr>
              <a:t>IIT PATNA CAPSTONE  |  2025-2026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349" name="CustomShape 5"/>
          <p:cNvSpPr/>
          <p:nvPr/>
        </p:nvSpPr>
        <p:spPr>
          <a:xfrm>
            <a:off x="4114800" y="914400"/>
            <a:ext cx="913680" cy="913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0" name="CustomShape 6"/>
          <p:cNvSpPr/>
          <p:nvPr/>
        </p:nvSpPr>
        <p:spPr>
          <a:xfrm>
            <a:off x="914400" y="1920240"/>
            <a:ext cx="7314480" cy="86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200" b="1" strike="noStrike" spc="-1">
                <a:solidFill>
                  <a:srgbClr val="FFFFFF"/>
                </a:solidFill>
                <a:latin typeface="Arial Black"/>
                <a:ea typeface="Arial Black"/>
              </a:rPr>
              <a:t>Thank You</a:t>
            </a:r>
            <a:endParaRPr lang="en-US" sz="5200" b="0" strike="noStrike" spc="-1">
              <a:latin typeface="Arial"/>
            </a:endParaRPr>
          </a:p>
        </p:txBody>
      </p:sp>
      <p:sp>
        <p:nvSpPr>
          <p:cNvPr id="351" name="Line 7"/>
          <p:cNvSpPr/>
          <p:nvPr/>
        </p:nvSpPr>
        <p:spPr>
          <a:xfrm>
            <a:off x="2286000" y="3401280"/>
            <a:ext cx="4572000" cy="0"/>
          </a:xfrm>
          <a:prstGeom prst="line">
            <a:avLst/>
          </a:prstGeom>
          <a:ln w="126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8"/>
          <p:cNvSpPr/>
          <p:nvPr/>
        </p:nvSpPr>
        <p:spPr>
          <a:xfrm>
            <a:off x="914400" y="3520440"/>
            <a:ext cx="731448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A78BFA"/>
                </a:solidFill>
                <a:latin typeface="Calibri"/>
                <a:ea typeface="Calibri"/>
              </a:rPr>
              <a:t>RepoBrainAI  -  Ask Your Codebase Anything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353" name="CustomShape 9"/>
          <p:cNvSpPr/>
          <p:nvPr/>
        </p:nvSpPr>
        <p:spPr>
          <a:xfrm>
            <a:off x="914400" y="3904560"/>
            <a:ext cx="731448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CADCFC"/>
                </a:solidFill>
                <a:latin typeface="Calibri"/>
                <a:ea typeface="Calibri"/>
              </a:rPr>
              <a:t>IIT Patna  |  6-Month Capstone  |  2025-2026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354" name="CustomShape 10"/>
          <p:cNvSpPr/>
          <p:nvPr/>
        </p:nvSpPr>
        <p:spPr>
          <a:xfrm>
            <a:off x="914400" y="4288680"/>
            <a:ext cx="7314480" cy="346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CADCFC"/>
                </a:solidFill>
                <a:latin typeface="Calibri"/>
                <a:ea typeface="Calibri"/>
              </a:rPr>
              <a:t>Stack: Next.js | Redux | Groq | LLaMA 3.3-70B | Vercel</a:t>
            </a:r>
            <a:endParaRPr lang="en-US" sz="1150" b="0" strike="noStrike" spc="-1">
              <a:latin typeface="Arial"/>
            </a:endParaRPr>
          </a:p>
        </p:txBody>
      </p:sp>
      <p:sp>
        <p:nvSpPr>
          <p:cNvPr id="355" name="CustomShape 11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solidFill>
            <a:srgbClr val="13103A"/>
          </a:solidFill>
          <a:ln w="12600">
            <a:solidFill>
              <a:srgbClr val="1310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6" name="CustomShape 12"/>
          <p:cNvSpPr/>
          <p:nvPr/>
        </p:nvSpPr>
        <p:spPr>
          <a:xfrm>
            <a:off x="0" y="4846320"/>
            <a:ext cx="9143280" cy="296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7FC0"/>
                </a:solidFill>
                <a:latin typeface="Calibri"/>
                <a:ea typeface="DejaVu Sans"/>
              </a:rPr>
              <a:t>RepoBrainAI  |  IIT Patna  |  Capstone Project</a:t>
            </a:r>
            <a:endParaRPr lang="en-US" sz="9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990</Words>
  <Application>Microsoft Office PowerPoint</Application>
  <PresentationFormat>On-screen Show (16:9)</PresentationFormat>
  <Paragraphs>207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RepoBrainAI — IIT Patna Capstone</dc:title>
  <dc:subject>PptxGenJS Presentation</dc:subject>
  <dc:creator>PptxGenJS</dc:creator>
  <dc:description/>
  <cp:lastModifiedBy>bikash patro</cp:lastModifiedBy>
  <cp:revision>10</cp:revision>
  <dcterms:created xsi:type="dcterms:W3CDTF">2026-04-21T15:29:23Z</dcterms:created>
  <dcterms:modified xsi:type="dcterms:W3CDTF">2026-04-21T17:06:40Z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PptxGenJS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9</vt:i4>
  </property>
  <property fmtid="{D5CDD505-2E9C-101B-9397-08002B2CF9AE}" pid="9" name="PresentationFormat">
    <vt:lpwstr>On-screen Show (16:9)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9</vt:i4>
  </property>
</Properties>
</file>